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 will focus on ChatGPT as the selected AI tool for this assignment. The purpose of the presentation is to explore ChatGPT as a general AI assistant and evaluate its usefulness for data analysis.
I will cover the company behind the tool, its main features, free and paid licensing, platform availability, strengths and limitations, and the specific ways it can support analysts working with Excel, CSV files, SQL, Python, R, charts, dashboards, and reports.
My key message is that ChatGPT is not just a chatbot. For data analysts, it can function as a productivity partner across the analytics workflow: it can help explore datasets, create code, generate visuals, summarize insights, and translate technical findings into business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ChatGPT as the selected tool. ChatGPT is developed by OpenAI and belongs to the category of general AI assistants. The important point for a data-analysis audience is that users do not need to begin with complex technical commands. They can ask a business question in natural language and then refine the answer through follow-up prompts.
The main features include text generation, summarization, coding, file analysis, chart generation, and report support. For analysts, these features are valuable because they reduce time spent on repetitive tasks. Instead of writing every SQL query or Python script from scratch, analysts can use ChatGPT to generate a first version, review it, test it, and adapt it to the business context.
The McKinsey-style takeaway is simple: ChatGPT compresses the distance between a business question and a usable analytical output. It does not remove the need for professional judgment, but it accelerates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covers licensing and platform availability. ChatGPT has a free version and several paid tiers. The free plan is useful for basic exploration and learning. Go and Plus provide expanded access for individual users, while Pro is aimed at heavier research and coding needs. Business, Enterprise, and education plans are designed for teams and organizations that need administration, governance, and broader deployment.
For platform availability, ChatGPT can be accessed on the web and through mobile apps on iOS and Android. Desktop access is available for macOS and Windows, although specific features may vary by plan and release status.
The executive point is that pricing should be evaluated against workload. A student may start with Free or Go, an individual analyst may benefit from Plus, and a professional team should evaluate Business or Enterprise because governance and data controls become more important when AI is used with organizational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how ChatGPT fits into a professional analytics workflow. A data-analysis project normally begins with a business question: what decision is the organization trying to make? ChatGPT can help refine that question and turn it into an analytical plan.
In the data preparation stage, ChatGPT can suggest cleaning logic, formulas, transformations, and Python or SQL steps. During analysis, it can support exploratory data analysis, hypothesis generation, and coding. During visualization, it can create or recommend charts and explain what the charts mean. Finally, it can translate findings into executive summaries, reports, and presentation content.
The critical control point is validation. ChatGPT accelerates work, but the analyst must still check assumptions, data quality, and business logic. The goal is not to outsource judgment; it is to improve productivity while keeping professional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the data-analysis questions in the assignment. ChatGPT can analyze Excel and CSV files in supported data-analysis contexts. It can inspect uploaded data, create tables and charts, and help review code-backed analysis.
It can also generate SQL, Python, and R code. This is useful because many analysts work across multiple technical environments. For example, ChatGPT can write a SQL query to extract monthly revenue, a Python script to visualize the result, and an R script for statistical testing.
ChatGPT can summarize insights from data and draft report language. It can also support dashboards by suggesting KPIs, visual layouts, filters, and narrative explanations. The limitation is that the analyst must validate everything. In a professional context, AI output should be reviewed for data quality, business assumptions, and calculation accuracy before it is used in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one common analytical task using a single prompt. The prompt asks ChatGPT to analyze a sales CSV, identify trends, recommend actions, generate Python code, and create a visualization.
A strong ChatGPT response should begin by understanding the dataset structure. It should check columns, data types, missing values, duplicates, and date ranges. Then it should identify patterns such as revenue growth, profit margin changes, product category performance, regional differences, and the impact of discounts.
Next, it should generate practical Python code using libraries such as pandas and matplotlib. Finally, it should translate the results into business recommendations. The key difference between raw analysis and decision support is communication: ChatGPT can help turn technical findings into actions that managers can understand and discuss.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real-life use case is retail sales performance analysis. Imagine a company with an online store. Revenue has increased, but profit has not improved. This is a common analytics problem because headline sales growth may hide margin problems.
The analyst can upload a sales CSV with order date, product category, region, revenue, discount, units sold, and profit. ChatGPT can help analyze the file, identify trends, and generate code for charts. For example, it may discover that sales grew because of heavy discounting, but margins declined as a result.
The business outcome is a faster executive briefing. ChatGPT can help the analyst explain what happened, why it matters, and what actions leadership should take. Recommended actions might include reducing blanket discounts, focusing on high-margin categories, and testing targeted promotions in underperforming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a balanced view of ChatGPT. The strengths are clear: it can produce fast drafts, generate code, explain complex topics, create charts, and help communicate insights to business users. For analysts, this can save significant time and improve the structure of work.
However, limitations are equally important. ChatGPT can make errors, especially when prompts are unclear, data is messy, or assumptions are not defined. It may produce code that looks correct but needs testing in the analyst's actual environment. It may also generate conclusions that sound confident but require verification against the dataset.
The executive risk-control message is that ChatGPT should be used as a co-pilot, not an autopilot. Analysts should validate calculations, review code, check outputs, protect sensitive data, and apply domain expertise before using AI-generated results in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adapts the assignment's comparison requirement to a single-tool focus. Instead of comparing different AI products, the comparison evaluates ChatGPT plans and recommends the best option for different users.
For students, the Free plan is the best starting point, and Go or Plus may be worthwhile for more frequent use. For professionals, Plus is a strong individual option, while Business is more appropriate when work involves teams, administration, and organizational data. For heavy research and coding, Pro provides higher usage. For large institutions, Enterprise or Edu plans are more appropriate because they support broader deployment and governance.
My overall recommendation is ChatGPT Plus for individual analysts and ChatGPT Business for professional teams. The best free option is ChatGPT Free, but serious analytical work usually benefits from expanded uploads, models, and workflow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conclusion is that ChatGPT is a strong AI tool for data analysts because it supports multiple parts of the workflow: exploring data, writing code, generating visualizations, summarizing insights, and preparing reports.
However, the most important message is that ChatGPT should augment the analyst, not replace the analyst. The value comes from combining AI speed with human judgment. Analysts must validate assumptions, verify calculations, test code, and ensure that sensitive data is handled responsibly.
My final recommendation is to use ChatGPT as a productivity accelerator. Students can start with the free plan, individual analysts may benefit from Plus, and professional teams should evaluate Business or Enterprise options depending on governance and deployment needs. Thank you for listening. I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B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BFF"/>
          </a:solidFill>
          <a:ln w="12700">
            <a:solidFill>
              <a:srgbClr val="F8FBFF"/>
            </a:solidFill>
            <a:prstDash val="solid"/>
          </a:ln>
        </p:spPr>
      </p:sp>
      <p:sp>
        <p:nvSpPr>
          <p:cNvPr id="3" name="Shape 1"/>
          <p:cNvSpPr/>
          <p:nvPr/>
        </p:nvSpPr>
        <p:spPr>
          <a:xfrm>
            <a:off x="0" y="0"/>
            <a:ext cx="12191695" cy="201168"/>
          </a:xfrm>
          <a:prstGeom prst="rect">
            <a:avLst/>
          </a:prstGeom>
          <a:solidFill>
            <a:srgbClr val="005A9C"/>
          </a:solidFill>
          <a:ln w="12700">
            <a:solidFill>
              <a:srgbClr val="005A9C"/>
            </a:solidFill>
            <a:prstDash val="solid"/>
          </a:ln>
        </p:spPr>
      </p:sp>
      <p:sp>
        <p:nvSpPr>
          <p:cNvPr id="4" name="Shape 2"/>
          <p:cNvSpPr/>
          <p:nvPr/>
        </p:nvSpPr>
        <p:spPr>
          <a:xfrm>
            <a:off x="8412480" y="201168"/>
            <a:ext cx="3776472" cy="6656832"/>
          </a:xfrm>
          <a:prstGeom prst="rect">
            <a:avLst/>
          </a:prstGeom>
          <a:solidFill>
            <a:srgbClr val="EAF4FF"/>
          </a:solidFill>
          <a:ln w="12700">
            <a:solidFill>
              <a:srgbClr val="EAF4FF"/>
            </a:solidFill>
            <a:prstDash val="solid"/>
          </a:ln>
        </p:spPr>
      </p:sp>
      <p:sp>
        <p:nvSpPr>
          <p:cNvPr id="5" name="Text 3"/>
          <p:cNvSpPr/>
          <p:nvPr/>
        </p:nvSpPr>
        <p:spPr>
          <a:xfrm>
            <a:off x="594360" y="685800"/>
            <a:ext cx="2011680" cy="182880"/>
          </a:xfrm>
          <a:prstGeom prst="rect">
            <a:avLst/>
          </a:prstGeom>
          <a:noFill/>
          <a:ln/>
        </p:spPr>
        <p:txBody>
          <a:bodyPr wrap="square" lIns="0" tIns="0" rIns="0" bIns="0" rtlCol="0" anchor="ctr"/>
          <a:lstStyle/>
          <a:p>
            <a:pPr indent="0" marL="0">
              <a:buNone/>
            </a:pPr>
            <a:r>
              <a:rPr lang="en-US" sz="900" b="1" dirty="0">
                <a:solidFill>
                  <a:srgbClr val="0078D4"/>
                </a:solidFill>
                <a:latin typeface="Aptos" pitchFamily="34" charset="0"/>
                <a:ea typeface="Aptos" pitchFamily="34" charset="-122"/>
                <a:cs typeface="Aptos" pitchFamily="34" charset="-120"/>
              </a:rPr>
              <a:t>AI ASSIGNMENT</a:t>
            </a:r>
            <a:endParaRPr lang="en-US" sz="900" dirty="0"/>
          </a:p>
        </p:txBody>
      </p:sp>
      <p:sp>
        <p:nvSpPr>
          <p:cNvPr id="6" name="Text 4"/>
          <p:cNvSpPr/>
          <p:nvPr/>
        </p:nvSpPr>
        <p:spPr>
          <a:xfrm>
            <a:off x="594360" y="1143000"/>
            <a:ext cx="6309360" cy="1051560"/>
          </a:xfrm>
          <a:prstGeom prst="rect">
            <a:avLst/>
          </a:prstGeom>
          <a:noFill/>
          <a:ln/>
        </p:spPr>
        <p:txBody>
          <a:bodyPr wrap="square" lIns="0" tIns="0" rIns="0" bIns="0" rtlCol="0" anchor="ctr">
            <a:normAutofit/>
          </a:bodyPr>
          <a:lstStyle/>
          <a:p>
            <a:pPr indent="0" marL="0">
              <a:buNone/>
            </a:pPr>
            <a:r>
              <a:rPr lang="en-US" sz="3600" b="1" dirty="0">
                <a:solidFill>
                  <a:srgbClr val="0F2D52"/>
                </a:solidFill>
                <a:latin typeface="Aptos Display" pitchFamily="34" charset="0"/>
                <a:ea typeface="Aptos Display" pitchFamily="34" charset="-122"/>
                <a:cs typeface="Aptos Display" pitchFamily="34" charset="-120"/>
              </a:rPr>
              <a:t>ChatGPT for</a:t>
            </a:r>
            <a:endParaRPr lang="en-US" sz="3600" dirty="0"/>
          </a:p>
          <a:p>
            <a:pPr indent="0" marL="0">
              <a:buNone/>
            </a:pPr>
            <a:r>
              <a:rPr lang="en-US" sz="3600" b="1" dirty="0">
                <a:solidFill>
                  <a:srgbClr val="0F2D52"/>
                </a:solidFill>
                <a:latin typeface="Aptos Display" pitchFamily="34" charset="0"/>
                <a:ea typeface="Aptos Display" pitchFamily="34" charset="-122"/>
                <a:cs typeface="Aptos Display" pitchFamily="34" charset="-120"/>
              </a:rPr>
              <a:t>Data Analysts</a:t>
            </a:r>
            <a:endParaRPr lang="en-US" sz="3600" dirty="0"/>
          </a:p>
        </p:txBody>
      </p:sp>
      <p:sp>
        <p:nvSpPr>
          <p:cNvPr id="7" name="Text 5"/>
          <p:cNvSpPr/>
          <p:nvPr/>
        </p:nvSpPr>
        <p:spPr>
          <a:xfrm>
            <a:off x="612648" y="2450592"/>
            <a:ext cx="6080760" cy="502920"/>
          </a:xfrm>
          <a:prstGeom prst="rect">
            <a:avLst/>
          </a:prstGeom>
          <a:noFill/>
          <a:ln/>
        </p:spPr>
        <p:txBody>
          <a:bodyPr wrap="square" lIns="254" tIns="254" rIns="254" bIns="254" rtlCol="0" anchor="ctr">
            <a:normAutofit/>
          </a:bodyPr>
          <a:lstStyle/>
          <a:p>
            <a:pPr indent="0" marL="0">
              <a:buNone/>
            </a:pPr>
            <a:r>
              <a:rPr lang="en-US" sz="1500" dirty="0">
                <a:solidFill>
                  <a:srgbClr val="111827"/>
                </a:solidFill>
                <a:latin typeface="Aptos" pitchFamily="34" charset="0"/>
                <a:ea typeface="Aptos" pitchFamily="34" charset="-122"/>
                <a:cs typeface="Aptos" pitchFamily="34" charset="-120"/>
              </a:rPr>
              <a:t>Exploring features, pricing, platform availability, data-analysis use cases, strengths, limitations, and recommendations.</a:t>
            </a:r>
            <a:endParaRPr lang="en-US" sz="1500" dirty="0"/>
          </a:p>
        </p:txBody>
      </p:sp>
      <p:sp>
        <p:nvSpPr>
          <p:cNvPr id="8" name="Shape 6"/>
          <p:cNvSpPr/>
          <p:nvPr/>
        </p:nvSpPr>
        <p:spPr>
          <a:xfrm>
            <a:off x="621792" y="3931920"/>
            <a:ext cx="1234440" cy="308610"/>
          </a:xfrm>
          <a:prstGeom prst="rect">
            <a:avLst/>
          </a:prstGeom>
          <a:solidFill>
            <a:srgbClr val="005A9C"/>
          </a:solidFill>
          <a:ln w="6350">
            <a:solidFill>
              <a:srgbClr val="D8E3F0"/>
            </a:solidFill>
            <a:prstDash val="solid"/>
          </a:ln>
        </p:spPr>
      </p:sp>
      <p:sp>
        <p:nvSpPr>
          <p:cNvPr id="9" name="Text 7"/>
          <p:cNvSpPr/>
          <p:nvPr/>
        </p:nvSpPr>
        <p:spPr>
          <a:xfrm>
            <a:off x="658368" y="3963924"/>
            <a:ext cx="1161288" cy="244602"/>
          </a:xfrm>
          <a:prstGeom prst="rect">
            <a:avLst/>
          </a:prstGeom>
          <a:noFill/>
          <a:ln/>
        </p:spPr>
        <p:txBody>
          <a:bodyPr wrap="square" lIns="127" tIns="127" rIns="127" bIns="127" rtlCol="0" anchor="ctr">
            <a:normAutofit/>
          </a:bodyPr>
          <a:lstStyle/>
          <a:p>
            <a:pPr indent="0" marL="0">
              <a:buNone/>
            </a:pPr>
            <a:r>
              <a:rPr lang="en-US" sz="920" dirty="0">
                <a:solidFill>
                  <a:srgbClr val="FFFFFF"/>
                </a:solidFill>
                <a:latin typeface="Aptos" pitchFamily="34" charset="0"/>
                <a:ea typeface="Aptos" pitchFamily="34" charset="-122"/>
                <a:cs typeface="Aptos" pitchFamily="34" charset="-120"/>
              </a:rPr>
              <a:t>Presented by</a:t>
            </a:r>
            <a:endParaRPr lang="en-US" sz="920" dirty="0"/>
          </a:p>
        </p:txBody>
      </p:sp>
      <p:sp>
        <p:nvSpPr>
          <p:cNvPr id="10" name="Shape 8"/>
          <p:cNvSpPr/>
          <p:nvPr/>
        </p:nvSpPr>
        <p:spPr>
          <a:xfrm>
            <a:off x="1856232" y="3931920"/>
            <a:ext cx="3794760" cy="308610"/>
          </a:xfrm>
          <a:prstGeom prst="rect">
            <a:avLst/>
          </a:prstGeom>
          <a:solidFill>
            <a:srgbClr val="005A9C"/>
          </a:solidFill>
          <a:ln w="6350">
            <a:solidFill>
              <a:srgbClr val="D8E3F0"/>
            </a:solidFill>
            <a:prstDash val="solid"/>
          </a:ln>
        </p:spPr>
      </p:sp>
      <p:sp>
        <p:nvSpPr>
          <p:cNvPr id="11" name="Text 9"/>
          <p:cNvSpPr/>
          <p:nvPr/>
        </p:nvSpPr>
        <p:spPr>
          <a:xfrm>
            <a:off x="1892808" y="3963924"/>
            <a:ext cx="3721608" cy="244602"/>
          </a:xfrm>
          <a:prstGeom prst="rect">
            <a:avLst/>
          </a:prstGeom>
          <a:noFill/>
          <a:ln/>
        </p:spPr>
        <p:txBody>
          <a:bodyPr wrap="square" lIns="127" tIns="127" rIns="127" bIns="127" rtlCol="0" anchor="ctr">
            <a:normAutofit/>
          </a:bodyPr>
          <a:lstStyle/>
          <a:p>
            <a:pPr indent="0" marL="0">
              <a:buNone/>
            </a:pPr>
            <a:r>
              <a:rPr lang="en-US" sz="920" dirty="0">
                <a:solidFill>
                  <a:srgbClr val="FFFFFF"/>
                </a:solidFill>
                <a:latin typeface="Aptos" pitchFamily="34" charset="0"/>
                <a:ea typeface="Aptos" pitchFamily="34" charset="-122"/>
                <a:cs typeface="Aptos" pitchFamily="34" charset="-120"/>
              </a:rPr>
              <a:t>[Your Name]</a:t>
            </a:r>
            <a:endParaRPr lang="en-US" sz="920" dirty="0"/>
          </a:p>
        </p:txBody>
      </p:sp>
      <p:sp>
        <p:nvSpPr>
          <p:cNvPr id="12" name="Shape 10"/>
          <p:cNvSpPr/>
          <p:nvPr/>
        </p:nvSpPr>
        <p:spPr>
          <a:xfrm>
            <a:off x="621792" y="4240530"/>
            <a:ext cx="1234440" cy="308610"/>
          </a:xfrm>
          <a:prstGeom prst="rect">
            <a:avLst/>
          </a:prstGeom>
          <a:solidFill>
            <a:srgbClr val="F7FBFF"/>
          </a:solidFill>
          <a:ln w="6350">
            <a:solidFill>
              <a:srgbClr val="D8E3F0"/>
            </a:solidFill>
            <a:prstDash val="solid"/>
          </a:ln>
        </p:spPr>
      </p:sp>
      <p:sp>
        <p:nvSpPr>
          <p:cNvPr id="13" name="Text 11"/>
          <p:cNvSpPr/>
          <p:nvPr/>
        </p:nvSpPr>
        <p:spPr>
          <a:xfrm>
            <a:off x="658368" y="4272534"/>
            <a:ext cx="1161288" cy="244602"/>
          </a:xfrm>
          <a:prstGeom prst="rect">
            <a:avLst/>
          </a:prstGeom>
          <a:noFill/>
          <a:ln/>
        </p:spPr>
        <p:txBody>
          <a:bodyPr wrap="square" lIns="127" tIns="127" rIns="127" bIns="127"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Course</a:t>
            </a:r>
            <a:endParaRPr lang="en-US" sz="920" dirty="0"/>
          </a:p>
        </p:txBody>
      </p:sp>
      <p:sp>
        <p:nvSpPr>
          <p:cNvPr id="14" name="Shape 12"/>
          <p:cNvSpPr/>
          <p:nvPr/>
        </p:nvSpPr>
        <p:spPr>
          <a:xfrm>
            <a:off x="1856232" y="4240530"/>
            <a:ext cx="3794760" cy="308610"/>
          </a:xfrm>
          <a:prstGeom prst="rect">
            <a:avLst/>
          </a:prstGeom>
          <a:solidFill>
            <a:srgbClr val="F7FBFF"/>
          </a:solidFill>
          <a:ln w="6350">
            <a:solidFill>
              <a:srgbClr val="D8E3F0"/>
            </a:solidFill>
            <a:prstDash val="solid"/>
          </a:ln>
        </p:spPr>
      </p:sp>
      <p:sp>
        <p:nvSpPr>
          <p:cNvPr id="15" name="Text 13"/>
          <p:cNvSpPr/>
          <p:nvPr/>
        </p:nvSpPr>
        <p:spPr>
          <a:xfrm>
            <a:off x="1892808" y="4272534"/>
            <a:ext cx="3721608" cy="244602"/>
          </a:xfrm>
          <a:prstGeom prst="rect">
            <a:avLst/>
          </a:prstGeom>
          <a:noFill/>
          <a:ln/>
        </p:spPr>
        <p:txBody>
          <a:bodyPr wrap="square" lIns="127" tIns="127" rIns="127" bIns="127"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[Course Name / Code]</a:t>
            </a:r>
            <a:endParaRPr lang="en-US" sz="920" dirty="0"/>
          </a:p>
        </p:txBody>
      </p:sp>
      <p:sp>
        <p:nvSpPr>
          <p:cNvPr id="16" name="Shape 14"/>
          <p:cNvSpPr/>
          <p:nvPr/>
        </p:nvSpPr>
        <p:spPr>
          <a:xfrm>
            <a:off x="621792" y="4549140"/>
            <a:ext cx="1234440" cy="308610"/>
          </a:xfrm>
          <a:prstGeom prst="rect">
            <a:avLst/>
          </a:prstGeom>
          <a:solidFill>
            <a:srgbClr val="FFFFFF"/>
          </a:solidFill>
          <a:ln w="6350">
            <a:solidFill>
              <a:srgbClr val="D8E3F0"/>
            </a:solidFill>
            <a:prstDash val="solid"/>
          </a:ln>
        </p:spPr>
      </p:sp>
      <p:sp>
        <p:nvSpPr>
          <p:cNvPr id="17" name="Text 15"/>
          <p:cNvSpPr/>
          <p:nvPr/>
        </p:nvSpPr>
        <p:spPr>
          <a:xfrm>
            <a:off x="658368" y="4581144"/>
            <a:ext cx="1161288" cy="244602"/>
          </a:xfrm>
          <a:prstGeom prst="rect">
            <a:avLst/>
          </a:prstGeom>
          <a:noFill/>
          <a:ln/>
        </p:spPr>
        <p:txBody>
          <a:bodyPr wrap="square" lIns="127" tIns="127" rIns="127" bIns="127"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University</a:t>
            </a:r>
            <a:endParaRPr lang="en-US" sz="920" dirty="0"/>
          </a:p>
        </p:txBody>
      </p:sp>
      <p:sp>
        <p:nvSpPr>
          <p:cNvPr id="18" name="Shape 16"/>
          <p:cNvSpPr/>
          <p:nvPr/>
        </p:nvSpPr>
        <p:spPr>
          <a:xfrm>
            <a:off x="1856232" y="4549140"/>
            <a:ext cx="3794760" cy="308610"/>
          </a:xfrm>
          <a:prstGeom prst="rect">
            <a:avLst/>
          </a:prstGeom>
          <a:solidFill>
            <a:srgbClr val="FFFFFF"/>
          </a:solidFill>
          <a:ln w="6350">
            <a:solidFill>
              <a:srgbClr val="D8E3F0"/>
            </a:solidFill>
            <a:prstDash val="solid"/>
          </a:ln>
        </p:spPr>
      </p:sp>
      <p:sp>
        <p:nvSpPr>
          <p:cNvPr id="19" name="Text 17"/>
          <p:cNvSpPr/>
          <p:nvPr/>
        </p:nvSpPr>
        <p:spPr>
          <a:xfrm>
            <a:off x="1892808" y="4581144"/>
            <a:ext cx="3721608" cy="244602"/>
          </a:xfrm>
          <a:prstGeom prst="rect">
            <a:avLst/>
          </a:prstGeom>
          <a:noFill/>
          <a:ln/>
        </p:spPr>
        <p:txBody>
          <a:bodyPr wrap="square" lIns="127" tIns="127" rIns="127" bIns="127"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[University Name]</a:t>
            </a:r>
            <a:endParaRPr lang="en-US" sz="920" dirty="0"/>
          </a:p>
        </p:txBody>
      </p:sp>
      <p:sp>
        <p:nvSpPr>
          <p:cNvPr id="20" name="Shape 18"/>
          <p:cNvSpPr/>
          <p:nvPr/>
        </p:nvSpPr>
        <p:spPr>
          <a:xfrm>
            <a:off x="621792" y="4857750"/>
            <a:ext cx="1234440" cy="308610"/>
          </a:xfrm>
          <a:prstGeom prst="rect">
            <a:avLst/>
          </a:prstGeom>
          <a:solidFill>
            <a:srgbClr val="F7FBFF"/>
          </a:solidFill>
          <a:ln w="6350">
            <a:solidFill>
              <a:srgbClr val="D8E3F0"/>
            </a:solidFill>
            <a:prstDash val="solid"/>
          </a:ln>
        </p:spPr>
      </p:sp>
      <p:sp>
        <p:nvSpPr>
          <p:cNvPr id="21" name="Text 19"/>
          <p:cNvSpPr/>
          <p:nvPr/>
        </p:nvSpPr>
        <p:spPr>
          <a:xfrm>
            <a:off x="658368" y="4889754"/>
            <a:ext cx="1161288" cy="244602"/>
          </a:xfrm>
          <a:prstGeom prst="rect">
            <a:avLst/>
          </a:prstGeom>
          <a:noFill/>
          <a:ln/>
        </p:spPr>
        <p:txBody>
          <a:bodyPr wrap="square" lIns="127" tIns="127" rIns="127" bIns="127"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Date</a:t>
            </a:r>
            <a:endParaRPr lang="en-US" sz="920" dirty="0"/>
          </a:p>
        </p:txBody>
      </p:sp>
      <p:sp>
        <p:nvSpPr>
          <p:cNvPr id="22" name="Shape 20"/>
          <p:cNvSpPr/>
          <p:nvPr/>
        </p:nvSpPr>
        <p:spPr>
          <a:xfrm>
            <a:off x="1856232" y="4857750"/>
            <a:ext cx="3794760" cy="308610"/>
          </a:xfrm>
          <a:prstGeom prst="rect">
            <a:avLst/>
          </a:prstGeom>
          <a:solidFill>
            <a:srgbClr val="F7FBFF"/>
          </a:solidFill>
          <a:ln w="6350">
            <a:solidFill>
              <a:srgbClr val="D8E3F0"/>
            </a:solidFill>
            <a:prstDash val="solid"/>
          </a:ln>
        </p:spPr>
      </p:sp>
      <p:sp>
        <p:nvSpPr>
          <p:cNvPr id="23" name="Text 21"/>
          <p:cNvSpPr/>
          <p:nvPr/>
        </p:nvSpPr>
        <p:spPr>
          <a:xfrm>
            <a:off x="1892808" y="4889754"/>
            <a:ext cx="3721608" cy="244602"/>
          </a:xfrm>
          <a:prstGeom prst="rect">
            <a:avLst/>
          </a:prstGeom>
          <a:noFill/>
          <a:ln/>
        </p:spPr>
        <p:txBody>
          <a:bodyPr wrap="square" lIns="127" tIns="127" rIns="127" bIns="127"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[Presentation Date]</a:t>
            </a:r>
            <a:endParaRPr lang="en-US" sz="920" dirty="0"/>
          </a:p>
        </p:txBody>
      </p:sp>
      <p:sp>
        <p:nvSpPr>
          <p:cNvPr id="24" name="Shape 22"/>
          <p:cNvSpPr/>
          <p:nvPr/>
        </p:nvSpPr>
        <p:spPr>
          <a:xfrm>
            <a:off x="9061704" y="960120"/>
            <a:ext cx="502920" cy="502920"/>
          </a:xfrm>
          <a:prstGeom prst="ellipse">
            <a:avLst/>
          </a:prstGeom>
          <a:solidFill>
            <a:srgbClr val="EAF4FF"/>
          </a:solidFill>
          <a:ln w="10160">
            <a:solidFill>
              <a:srgbClr val="CDE6FF"/>
            </a:solidFill>
            <a:prstDash val="solid"/>
          </a:ln>
        </p:spPr>
      </p:sp>
      <p:sp>
        <p:nvSpPr>
          <p:cNvPr id="25" name="Text 23"/>
          <p:cNvSpPr/>
          <p:nvPr/>
        </p:nvSpPr>
        <p:spPr>
          <a:xfrm>
            <a:off x="9144000" y="1033272"/>
            <a:ext cx="365760" cy="237744"/>
          </a:xfrm>
          <a:prstGeom prst="rect">
            <a:avLst/>
          </a:prstGeom>
          <a:noFill/>
          <a:ln/>
        </p:spPr>
        <p:txBody>
          <a:bodyPr wrap="square" lIns="0" tIns="0" rIns="0" bIns="0" rtlCol="0" anchor="ctr"/>
          <a:lstStyle/>
          <a:p>
            <a:pPr algn="ctr" indent="0" marL="0">
              <a:buNone/>
            </a:pPr>
            <a:r>
              <a:rPr lang="en-US" sz="1600" dirty="0">
                <a:solidFill>
                  <a:srgbClr val="000000"/>
                </a:solidFill>
                <a:latin typeface="Aptos" pitchFamily="34" charset="0"/>
                <a:ea typeface="Aptos" pitchFamily="34" charset="-122"/>
                <a:cs typeface="Aptos" pitchFamily="34" charset="-120"/>
              </a:rPr>
              <a:t>🤖</a:t>
            </a:r>
            <a:endParaRPr lang="en-US" sz="1600" dirty="0"/>
          </a:p>
        </p:txBody>
      </p:sp>
      <p:sp>
        <p:nvSpPr>
          <p:cNvPr id="26" name="Text 24"/>
          <p:cNvSpPr/>
          <p:nvPr/>
        </p:nvSpPr>
        <p:spPr>
          <a:xfrm>
            <a:off x="8732520" y="1581912"/>
            <a:ext cx="1143000" cy="201168"/>
          </a:xfrm>
          <a:prstGeom prst="rect">
            <a:avLst/>
          </a:prstGeom>
          <a:noFill/>
          <a:ln/>
        </p:spPr>
        <p:txBody>
          <a:bodyPr wrap="square" lIns="0" tIns="0" rIns="0" bIns="0" rtlCol="0" anchor="ctr"/>
          <a:lstStyle/>
          <a:p>
            <a:pPr algn="ctr" indent="0" marL="0">
              <a:buNone/>
            </a:pPr>
            <a:r>
              <a:rPr lang="en-US" sz="850" b="1" dirty="0">
                <a:solidFill>
                  <a:srgbClr val="0F2D52"/>
                </a:solidFill>
                <a:latin typeface="Aptos" pitchFamily="34" charset="0"/>
                <a:ea typeface="Aptos" pitchFamily="34" charset="-122"/>
                <a:cs typeface="Aptos" pitchFamily="34" charset="-120"/>
              </a:rPr>
              <a:t>AI Assistant</a:t>
            </a:r>
            <a:endParaRPr lang="en-US" sz="850" dirty="0"/>
          </a:p>
        </p:txBody>
      </p:sp>
      <p:sp>
        <p:nvSpPr>
          <p:cNvPr id="27" name="Shape 25"/>
          <p:cNvSpPr/>
          <p:nvPr/>
        </p:nvSpPr>
        <p:spPr>
          <a:xfrm>
            <a:off x="10616184" y="960120"/>
            <a:ext cx="502920" cy="502920"/>
          </a:xfrm>
          <a:prstGeom prst="ellipse">
            <a:avLst/>
          </a:prstGeom>
          <a:solidFill>
            <a:srgbClr val="EAF4FF"/>
          </a:solidFill>
          <a:ln w="10160">
            <a:solidFill>
              <a:srgbClr val="CDE6FF"/>
            </a:solidFill>
            <a:prstDash val="solid"/>
          </a:ln>
        </p:spPr>
      </p:sp>
      <p:sp>
        <p:nvSpPr>
          <p:cNvPr id="28" name="Text 26"/>
          <p:cNvSpPr/>
          <p:nvPr/>
        </p:nvSpPr>
        <p:spPr>
          <a:xfrm>
            <a:off x="10698480" y="1033272"/>
            <a:ext cx="365760" cy="237744"/>
          </a:xfrm>
          <a:prstGeom prst="rect">
            <a:avLst/>
          </a:prstGeom>
          <a:noFill/>
          <a:ln/>
        </p:spPr>
        <p:txBody>
          <a:bodyPr wrap="square" lIns="0" tIns="0" rIns="0" bIns="0" rtlCol="0" anchor="ctr"/>
          <a:lstStyle/>
          <a:p>
            <a:pPr algn="ctr" indent="0" marL="0">
              <a:buNone/>
            </a:pPr>
            <a:r>
              <a:rPr lang="en-US" sz="1600" dirty="0">
                <a:solidFill>
                  <a:srgbClr val="000000"/>
                </a:solidFill>
                <a:latin typeface="Aptos" pitchFamily="34" charset="0"/>
                <a:ea typeface="Aptos" pitchFamily="34" charset="-122"/>
                <a:cs typeface="Aptos" pitchFamily="34" charset="-120"/>
              </a:rPr>
              <a:t>📊</a:t>
            </a:r>
            <a:endParaRPr lang="en-US" sz="1600" dirty="0"/>
          </a:p>
        </p:txBody>
      </p:sp>
      <p:sp>
        <p:nvSpPr>
          <p:cNvPr id="29" name="Text 27"/>
          <p:cNvSpPr/>
          <p:nvPr/>
        </p:nvSpPr>
        <p:spPr>
          <a:xfrm>
            <a:off x="10287000" y="1581912"/>
            <a:ext cx="1143000" cy="201168"/>
          </a:xfrm>
          <a:prstGeom prst="rect">
            <a:avLst/>
          </a:prstGeom>
          <a:noFill/>
          <a:ln/>
        </p:spPr>
        <p:txBody>
          <a:bodyPr wrap="square" lIns="0" tIns="0" rIns="0" bIns="0" rtlCol="0" anchor="ctr"/>
          <a:lstStyle/>
          <a:p>
            <a:pPr algn="ctr" indent="0" marL="0">
              <a:buNone/>
            </a:pPr>
            <a:r>
              <a:rPr lang="en-US" sz="850" b="1" dirty="0">
                <a:solidFill>
                  <a:srgbClr val="0F2D52"/>
                </a:solidFill>
                <a:latin typeface="Aptos" pitchFamily="34" charset="0"/>
                <a:ea typeface="Aptos" pitchFamily="34" charset="-122"/>
                <a:cs typeface="Aptos" pitchFamily="34" charset="-120"/>
              </a:rPr>
              <a:t>Analytics</a:t>
            </a:r>
            <a:endParaRPr lang="en-US" sz="850" dirty="0"/>
          </a:p>
        </p:txBody>
      </p:sp>
      <p:sp>
        <p:nvSpPr>
          <p:cNvPr id="30" name="Shape 28"/>
          <p:cNvSpPr/>
          <p:nvPr/>
        </p:nvSpPr>
        <p:spPr>
          <a:xfrm>
            <a:off x="9061704" y="2148840"/>
            <a:ext cx="502920" cy="502920"/>
          </a:xfrm>
          <a:prstGeom prst="ellipse">
            <a:avLst/>
          </a:prstGeom>
          <a:solidFill>
            <a:srgbClr val="EAF4FF"/>
          </a:solidFill>
          <a:ln w="10160">
            <a:solidFill>
              <a:srgbClr val="CDE6FF"/>
            </a:solidFill>
            <a:prstDash val="solid"/>
          </a:ln>
        </p:spPr>
      </p:sp>
      <p:sp>
        <p:nvSpPr>
          <p:cNvPr id="31" name="Text 29"/>
          <p:cNvSpPr/>
          <p:nvPr/>
        </p:nvSpPr>
        <p:spPr>
          <a:xfrm>
            <a:off x="9144000" y="2221992"/>
            <a:ext cx="365760" cy="237744"/>
          </a:xfrm>
          <a:prstGeom prst="rect">
            <a:avLst/>
          </a:prstGeom>
          <a:noFill/>
          <a:ln/>
        </p:spPr>
        <p:txBody>
          <a:bodyPr wrap="square" lIns="0" tIns="0" rIns="0" bIns="0" rtlCol="0" anchor="ctr"/>
          <a:lstStyle/>
          <a:p>
            <a:pPr algn="ctr" indent="0" marL="0">
              <a:buNone/>
            </a:pPr>
            <a:r>
              <a:rPr lang="en-US" sz="1600" dirty="0">
                <a:solidFill>
                  <a:srgbClr val="000000"/>
                </a:solidFill>
                <a:latin typeface="Aptos" pitchFamily="34" charset="0"/>
                <a:ea typeface="Aptos" pitchFamily="34" charset="-122"/>
                <a:cs typeface="Aptos" pitchFamily="34" charset="-120"/>
              </a:rPr>
              <a:t>🐍</a:t>
            </a:r>
            <a:endParaRPr lang="en-US" sz="1600" dirty="0"/>
          </a:p>
        </p:txBody>
      </p:sp>
      <p:sp>
        <p:nvSpPr>
          <p:cNvPr id="32" name="Text 30"/>
          <p:cNvSpPr/>
          <p:nvPr/>
        </p:nvSpPr>
        <p:spPr>
          <a:xfrm>
            <a:off x="8732520" y="2770632"/>
            <a:ext cx="1143000" cy="201168"/>
          </a:xfrm>
          <a:prstGeom prst="rect">
            <a:avLst/>
          </a:prstGeom>
          <a:noFill/>
          <a:ln/>
        </p:spPr>
        <p:txBody>
          <a:bodyPr wrap="square" lIns="0" tIns="0" rIns="0" bIns="0" rtlCol="0" anchor="ctr"/>
          <a:lstStyle/>
          <a:p>
            <a:pPr algn="ctr" indent="0" marL="0">
              <a:buNone/>
            </a:pPr>
            <a:r>
              <a:rPr lang="en-US" sz="850" b="1" dirty="0">
                <a:solidFill>
                  <a:srgbClr val="0F2D52"/>
                </a:solidFill>
                <a:latin typeface="Aptos" pitchFamily="34" charset="0"/>
                <a:ea typeface="Aptos" pitchFamily="34" charset="-122"/>
                <a:cs typeface="Aptos" pitchFamily="34" charset="-120"/>
              </a:rPr>
              <a:t>Code</a:t>
            </a:r>
            <a:endParaRPr lang="en-US" sz="850" dirty="0"/>
          </a:p>
        </p:txBody>
      </p:sp>
      <p:sp>
        <p:nvSpPr>
          <p:cNvPr id="33" name="Shape 31"/>
          <p:cNvSpPr/>
          <p:nvPr/>
        </p:nvSpPr>
        <p:spPr>
          <a:xfrm>
            <a:off x="10616184" y="2148840"/>
            <a:ext cx="502920" cy="502920"/>
          </a:xfrm>
          <a:prstGeom prst="ellipse">
            <a:avLst/>
          </a:prstGeom>
          <a:solidFill>
            <a:srgbClr val="EAF4FF"/>
          </a:solidFill>
          <a:ln w="10160">
            <a:solidFill>
              <a:srgbClr val="CDE6FF"/>
            </a:solidFill>
            <a:prstDash val="solid"/>
          </a:ln>
        </p:spPr>
      </p:sp>
      <p:sp>
        <p:nvSpPr>
          <p:cNvPr id="34" name="Text 32"/>
          <p:cNvSpPr/>
          <p:nvPr/>
        </p:nvSpPr>
        <p:spPr>
          <a:xfrm>
            <a:off x="10698480" y="2221992"/>
            <a:ext cx="365760" cy="237744"/>
          </a:xfrm>
          <a:prstGeom prst="rect">
            <a:avLst/>
          </a:prstGeom>
          <a:noFill/>
          <a:ln/>
        </p:spPr>
        <p:txBody>
          <a:bodyPr wrap="square" lIns="0" tIns="0" rIns="0" bIns="0" rtlCol="0" anchor="ctr"/>
          <a:lstStyle/>
          <a:p>
            <a:pPr algn="ctr" indent="0" marL="0">
              <a:buNone/>
            </a:pPr>
            <a:r>
              <a:rPr lang="en-US" sz="1600" dirty="0">
                <a:solidFill>
                  <a:srgbClr val="000000"/>
                </a:solidFill>
                <a:latin typeface="Aptos" pitchFamily="34" charset="0"/>
                <a:ea typeface="Aptos" pitchFamily="34" charset="-122"/>
                <a:cs typeface="Aptos" pitchFamily="34" charset="-120"/>
              </a:rPr>
              <a:t>📈</a:t>
            </a:r>
            <a:endParaRPr lang="en-US" sz="1600" dirty="0"/>
          </a:p>
        </p:txBody>
      </p:sp>
      <p:sp>
        <p:nvSpPr>
          <p:cNvPr id="35" name="Text 33"/>
          <p:cNvSpPr/>
          <p:nvPr/>
        </p:nvSpPr>
        <p:spPr>
          <a:xfrm>
            <a:off x="10287000" y="2770632"/>
            <a:ext cx="1143000" cy="201168"/>
          </a:xfrm>
          <a:prstGeom prst="rect">
            <a:avLst/>
          </a:prstGeom>
          <a:noFill/>
          <a:ln/>
        </p:spPr>
        <p:txBody>
          <a:bodyPr wrap="square" lIns="0" tIns="0" rIns="0" bIns="0" rtlCol="0" anchor="ctr"/>
          <a:lstStyle/>
          <a:p>
            <a:pPr algn="ctr" indent="0" marL="0">
              <a:buNone/>
            </a:pPr>
            <a:r>
              <a:rPr lang="en-US" sz="850" b="1" dirty="0">
                <a:solidFill>
                  <a:srgbClr val="0F2D52"/>
                </a:solidFill>
                <a:latin typeface="Aptos" pitchFamily="34" charset="0"/>
                <a:ea typeface="Aptos" pitchFamily="34" charset="-122"/>
                <a:cs typeface="Aptos" pitchFamily="34" charset="-120"/>
              </a:rPr>
              <a:t>Reports</a:t>
            </a:r>
            <a:endParaRPr lang="en-US" sz="850" dirty="0"/>
          </a:p>
        </p:txBody>
      </p:sp>
      <p:sp>
        <p:nvSpPr>
          <p:cNvPr id="36" name="Text 34"/>
          <p:cNvSpPr/>
          <p:nvPr/>
        </p:nvSpPr>
        <p:spPr>
          <a:xfrm>
            <a:off x="8732520" y="3840480"/>
            <a:ext cx="2011680" cy="201168"/>
          </a:xfrm>
          <a:prstGeom prst="rect">
            <a:avLst/>
          </a:prstGeom>
          <a:noFill/>
          <a:ln/>
        </p:spPr>
        <p:txBody>
          <a:bodyPr wrap="square" lIns="0" tIns="0" rIns="0" bIns="0" rtlCol="0" anchor="ctr"/>
          <a:lstStyle/>
          <a:p>
            <a:pPr indent="0" marL="0">
              <a:buNone/>
            </a:pPr>
            <a:r>
              <a:rPr lang="en-US" sz="1000" b="1" dirty="0">
                <a:solidFill>
                  <a:srgbClr val="0078D4"/>
                </a:solidFill>
                <a:latin typeface="Aptos" pitchFamily="34" charset="0"/>
                <a:ea typeface="Aptos" pitchFamily="34" charset="-122"/>
                <a:cs typeface="Aptos" pitchFamily="34" charset="-120"/>
              </a:rPr>
              <a:t>Executive thesis</a:t>
            </a:r>
            <a:endParaRPr lang="en-US" sz="1000" dirty="0"/>
          </a:p>
        </p:txBody>
      </p:sp>
      <p:sp>
        <p:nvSpPr>
          <p:cNvPr id="37" name="Text 35"/>
          <p:cNvSpPr/>
          <p:nvPr/>
        </p:nvSpPr>
        <p:spPr>
          <a:xfrm>
            <a:off x="8732520" y="4160520"/>
            <a:ext cx="2697480" cy="1051560"/>
          </a:xfrm>
          <a:prstGeom prst="rect">
            <a:avLst/>
          </a:prstGeom>
          <a:noFill/>
          <a:ln/>
        </p:spPr>
        <p:txBody>
          <a:bodyPr wrap="square" lIns="254" tIns="254" rIns="254" bIns="254" rtlCol="0" anchor="ctr">
            <a:normAutofit/>
          </a:bodyP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ChatGPT is a practical all-in-one assistant for analysis, code generation, visual storytelling, and executive communication.</a:t>
            </a:r>
            <a:endParaRPr lang="en-US" sz="1500" dirty="0"/>
          </a:p>
        </p:txBody>
      </p:sp>
      <p:sp>
        <p:nvSpPr>
          <p:cNvPr id="38" name="Text 36"/>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39" name="Text 37"/>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01</a:t>
            </a:r>
            <a:endParaRPr lang="en-US" sz="800" dirty="0"/>
          </a:p>
        </p:txBody>
      </p:sp>
      <p:sp>
        <p:nvSpPr>
          <p:cNvPr id="40" name="Shape 38"/>
          <p:cNvSpPr/>
          <p:nvPr/>
        </p:nvSpPr>
        <p:spPr>
          <a:xfrm>
            <a:off x="411480" y="6446520"/>
            <a:ext cx="11384280" cy="0"/>
          </a:xfrm>
          <a:prstGeom prst="line">
            <a:avLst/>
          </a:prstGeom>
          <a:noFill/>
          <a:ln w="6350">
            <a:solidFill>
              <a:srgbClr val="D6E4F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TOOL OVERVIEW</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What is ChatGPT?</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02</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972800" cy="320040"/>
          </a:xfrm>
          <a:prstGeom prst="rect">
            <a:avLst/>
          </a:prstGeom>
          <a:noFill/>
          <a:ln/>
        </p:spPr>
        <p:txBody>
          <a:bodyPr wrap="square" lIns="0" tIns="0" rIns="0" bIns="0" rtlCol="0" anchor="ctr">
            <a:normAutofit/>
          </a:bodyPr>
          <a:lstStyle/>
          <a:p>
            <a:pPr indent="0" marL="0">
              <a:buNone/>
            </a:pPr>
            <a:r>
              <a:rPr lang="en-US" sz="1500" dirty="0">
                <a:solidFill>
                  <a:srgbClr val="111827"/>
                </a:solidFill>
                <a:latin typeface="Aptos" pitchFamily="34" charset="0"/>
                <a:ea typeface="Aptos" pitchFamily="34" charset="-122"/>
                <a:cs typeface="Aptos" pitchFamily="34" charset="-120"/>
              </a:rPr>
              <a:t>ChatGPT is an AI assistant developed by OpenAI that can understand natural language and generate text, code, analysis, images, and work outputs.</a:t>
            </a:r>
            <a:endParaRPr lang="en-US" sz="1500" dirty="0"/>
          </a:p>
        </p:txBody>
      </p:sp>
      <p:sp>
        <p:nvSpPr>
          <p:cNvPr id="9" name="Shape 7"/>
          <p:cNvSpPr/>
          <p:nvPr/>
        </p:nvSpPr>
        <p:spPr>
          <a:xfrm>
            <a:off x="594360" y="1600200"/>
            <a:ext cx="2331720" cy="1097280"/>
          </a:xfrm>
          <a:prstGeom prst="roundRect">
            <a:avLst>
              <a:gd name="adj" fmla="val 6667"/>
            </a:avLst>
          </a:prstGeom>
          <a:solidFill>
            <a:srgbClr val="FFFFFF"/>
          </a:solidFill>
          <a:ln w="9525">
            <a:solidFill>
              <a:srgbClr val="D6E4F2"/>
            </a:solidFill>
            <a:prstDash val="solid"/>
          </a:ln>
        </p:spPr>
      </p:sp>
      <p:sp>
        <p:nvSpPr>
          <p:cNvPr id="10" name="Text 8"/>
          <p:cNvSpPr/>
          <p:nvPr/>
        </p:nvSpPr>
        <p:spPr>
          <a:xfrm>
            <a:off x="758952" y="1810512"/>
            <a:ext cx="2011680" cy="164592"/>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Company</a:t>
            </a:r>
            <a:endParaRPr lang="en-US" sz="850" dirty="0"/>
          </a:p>
        </p:txBody>
      </p:sp>
      <p:sp>
        <p:nvSpPr>
          <p:cNvPr id="11" name="Text 9"/>
          <p:cNvSpPr/>
          <p:nvPr/>
        </p:nvSpPr>
        <p:spPr>
          <a:xfrm>
            <a:off x="758952" y="2084832"/>
            <a:ext cx="2011680" cy="274320"/>
          </a:xfrm>
          <a:prstGeom prst="rect">
            <a:avLst/>
          </a:prstGeom>
          <a:noFill/>
          <a:ln/>
        </p:spPr>
        <p:txBody>
          <a:bodyPr wrap="square" lIns="0" tIns="0" rIns="0" bIns="0" rtlCol="0" anchor="ctr">
            <a:normAutofit/>
          </a:bodyP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OpenAI</a:t>
            </a:r>
            <a:endParaRPr lang="en-US" sz="1500" dirty="0"/>
          </a:p>
        </p:txBody>
      </p:sp>
      <p:sp>
        <p:nvSpPr>
          <p:cNvPr id="12" name="Shape 10"/>
          <p:cNvSpPr/>
          <p:nvPr/>
        </p:nvSpPr>
        <p:spPr>
          <a:xfrm>
            <a:off x="3246120" y="1600200"/>
            <a:ext cx="2331720" cy="1097280"/>
          </a:xfrm>
          <a:prstGeom prst="roundRect">
            <a:avLst>
              <a:gd name="adj" fmla="val 6667"/>
            </a:avLst>
          </a:prstGeom>
          <a:solidFill>
            <a:srgbClr val="FFFFFF"/>
          </a:solidFill>
          <a:ln w="9525">
            <a:solidFill>
              <a:srgbClr val="D6E4F2"/>
            </a:solidFill>
            <a:prstDash val="solid"/>
          </a:ln>
        </p:spPr>
      </p:sp>
      <p:sp>
        <p:nvSpPr>
          <p:cNvPr id="13" name="Text 11"/>
          <p:cNvSpPr/>
          <p:nvPr/>
        </p:nvSpPr>
        <p:spPr>
          <a:xfrm>
            <a:off x="3410712" y="1810512"/>
            <a:ext cx="2011680" cy="164592"/>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Category</a:t>
            </a:r>
            <a:endParaRPr lang="en-US" sz="850" dirty="0"/>
          </a:p>
        </p:txBody>
      </p:sp>
      <p:sp>
        <p:nvSpPr>
          <p:cNvPr id="14" name="Text 12"/>
          <p:cNvSpPr/>
          <p:nvPr/>
        </p:nvSpPr>
        <p:spPr>
          <a:xfrm>
            <a:off x="3410712" y="2084832"/>
            <a:ext cx="2011680" cy="274320"/>
          </a:xfrm>
          <a:prstGeom prst="rect">
            <a:avLst/>
          </a:prstGeom>
          <a:noFill/>
          <a:ln/>
        </p:spPr>
        <p:txBody>
          <a:bodyPr wrap="square" lIns="0" tIns="0" rIns="0" bIns="0" rtlCol="0" anchor="ctr">
            <a:normAutofit/>
          </a:bodyP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General AI Assistant</a:t>
            </a:r>
            <a:endParaRPr lang="en-US" sz="1500" dirty="0"/>
          </a:p>
        </p:txBody>
      </p:sp>
      <p:sp>
        <p:nvSpPr>
          <p:cNvPr id="15" name="Shape 13"/>
          <p:cNvSpPr/>
          <p:nvPr/>
        </p:nvSpPr>
        <p:spPr>
          <a:xfrm>
            <a:off x="5897880" y="1600200"/>
            <a:ext cx="2331720" cy="1097280"/>
          </a:xfrm>
          <a:prstGeom prst="roundRect">
            <a:avLst>
              <a:gd name="adj" fmla="val 6667"/>
            </a:avLst>
          </a:prstGeom>
          <a:solidFill>
            <a:srgbClr val="FFFFFF"/>
          </a:solidFill>
          <a:ln w="9525">
            <a:solidFill>
              <a:srgbClr val="D6E4F2"/>
            </a:solidFill>
            <a:prstDash val="solid"/>
          </a:ln>
        </p:spPr>
      </p:sp>
      <p:sp>
        <p:nvSpPr>
          <p:cNvPr id="16" name="Text 14"/>
          <p:cNvSpPr/>
          <p:nvPr/>
        </p:nvSpPr>
        <p:spPr>
          <a:xfrm>
            <a:off x="6062472" y="1810512"/>
            <a:ext cx="2011680" cy="164592"/>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Core interface</a:t>
            </a:r>
            <a:endParaRPr lang="en-US" sz="850" dirty="0"/>
          </a:p>
        </p:txBody>
      </p:sp>
      <p:sp>
        <p:nvSpPr>
          <p:cNvPr id="17" name="Text 15"/>
          <p:cNvSpPr/>
          <p:nvPr/>
        </p:nvSpPr>
        <p:spPr>
          <a:xfrm>
            <a:off x="6062472" y="2084832"/>
            <a:ext cx="2011680" cy="274320"/>
          </a:xfrm>
          <a:prstGeom prst="rect">
            <a:avLst/>
          </a:prstGeom>
          <a:noFill/>
          <a:ln/>
        </p:spPr>
        <p:txBody>
          <a:bodyPr wrap="square" lIns="0" tIns="0" rIns="0" bIns="0" rtlCol="0" anchor="ctr">
            <a:normAutofit/>
          </a:bodyP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Natural language</a:t>
            </a:r>
            <a:endParaRPr lang="en-US" sz="1500" dirty="0"/>
          </a:p>
        </p:txBody>
      </p:sp>
      <p:sp>
        <p:nvSpPr>
          <p:cNvPr id="18" name="Shape 16"/>
          <p:cNvSpPr/>
          <p:nvPr/>
        </p:nvSpPr>
        <p:spPr>
          <a:xfrm>
            <a:off x="8549640" y="1600200"/>
            <a:ext cx="2331720" cy="1097280"/>
          </a:xfrm>
          <a:prstGeom prst="roundRect">
            <a:avLst>
              <a:gd name="adj" fmla="val 6667"/>
            </a:avLst>
          </a:prstGeom>
          <a:solidFill>
            <a:srgbClr val="FFFFFF"/>
          </a:solidFill>
          <a:ln w="9525">
            <a:solidFill>
              <a:srgbClr val="D6E4F2"/>
            </a:solidFill>
            <a:prstDash val="solid"/>
          </a:ln>
        </p:spPr>
      </p:sp>
      <p:sp>
        <p:nvSpPr>
          <p:cNvPr id="19" name="Text 17"/>
          <p:cNvSpPr/>
          <p:nvPr/>
        </p:nvSpPr>
        <p:spPr>
          <a:xfrm>
            <a:off x="8714232" y="1810512"/>
            <a:ext cx="2011680" cy="164592"/>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Analyst value</a:t>
            </a:r>
            <a:endParaRPr lang="en-US" sz="850" dirty="0"/>
          </a:p>
        </p:txBody>
      </p:sp>
      <p:sp>
        <p:nvSpPr>
          <p:cNvPr id="20" name="Text 18"/>
          <p:cNvSpPr/>
          <p:nvPr/>
        </p:nvSpPr>
        <p:spPr>
          <a:xfrm>
            <a:off x="8714232" y="2084832"/>
            <a:ext cx="2011680" cy="274320"/>
          </a:xfrm>
          <a:prstGeom prst="rect">
            <a:avLst/>
          </a:prstGeom>
          <a:noFill/>
          <a:ln/>
        </p:spPr>
        <p:txBody>
          <a:bodyPr wrap="square" lIns="0" tIns="0" rIns="0" bIns="0" rtlCol="0" anchor="ctr">
            <a:normAutofit/>
          </a:bodyP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Faster insight delivery</a:t>
            </a:r>
            <a:endParaRPr lang="en-US" sz="1500" dirty="0"/>
          </a:p>
        </p:txBody>
      </p:sp>
      <p:sp>
        <p:nvSpPr>
          <p:cNvPr id="21" name="Shape 19"/>
          <p:cNvSpPr/>
          <p:nvPr/>
        </p:nvSpPr>
        <p:spPr>
          <a:xfrm>
            <a:off x="594360" y="3063240"/>
            <a:ext cx="5166360" cy="2468880"/>
          </a:xfrm>
          <a:prstGeom prst="roundRect">
            <a:avLst>
              <a:gd name="adj" fmla="val 2963"/>
            </a:avLst>
          </a:prstGeom>
          <a:solidFill>
            <a:srgbClr val="F5FAFF"/>
          </a:solidFill>
          <a:ln w="9525">
            <a:solidFill>
              <a:srgbClr val="D6E4F2"/>
            </a:solidFill>
            <a:prstDash val="solid"/>
          </a:ln>
        </p:spPr>
      </p:sp>
      <p:sp>
        <p:nvSpPr>
          <p:cNvPr id="22" name="Text 20"/>
          <p:cNvSpPr/>
          <p:nvPr/>
        </p:nvSpPr>
        <p:spPr>
          <a:xfrm>
            <a:off x="868680" y="3337560"/>
            <a:ext cx="228600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Main features</a:t>
            </a:r>
            <a:endParaRPr lang="en-US" sz="1100" dirty="0"/>
          </a:p>
        </p:txBody>
      </p:sp>
      <p:sp>
        <p:nvSpPr>
          <p:cNvPr id="23" name="Text 21"/>
          <p:cNvSpPr/>
          <p:nvPr/>
        </p:nvSpPr>
        <p:spPr>
          <a:xfrm>
            <a:off x="868680" y="3657600"/>
            <a:ext cx="4434840" cy="1417320"/>
          </a:xfrm>
          <a:prstGeom prst="rect">
            <a:avLst/>
          </a:prstGeom>
          <a:noFill/>
          <a:ln/>
        </p:spPr>
        <p:txBody>
          <a:bodyPr wrap="square" lIns="381" tIns="381" rIns="381" bIns="381" rtlCol="0" anchor="ctr">
            <a:normAutofit/>
          </a:bodyPr>
          <a:lstStyle/>
          <a:p>
            <a:pPr indent="0" marL="0">
              <a:buNone/>
            </a:pPr>
            <a:r>
              <a:rPr lang="en-US" sz="1050" dirty="0">
                <a:solidFill>
                  <a:srgbClr val="111827"/>
                </a:solidFill>
                <a:latin typeface="Aptos" pitchFamily="34" charset="0"/>
                <a:ea typeface="Aptos" pitchFamily="34" charset="-122"/>
                <a:cs typeface="Aptos" pitchFamily="34" charset="-120"/>
              </a:rPr>
              <a:t>• Answer questions and explain concepts</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Draft, rewrite, summarize, and translate</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Generate and debug SQL, Python, and R</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Analyze uploaded files and create charts</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Support research with search and source links</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Create reports, tables, presentations, and summaries</a:t>
            </a:r>
            <a:endParaRPr lang="en-US" sz="1050" dirty="0"/>
          </a:p>
        </p:txBody>
      </p:sp>
      <p:sp>
        <p:nvSpPr>
          <p:cNvPr id="24" name="Shape 22"/>
          <p:cNvSpPr/>
          <p:nvPr/>
        </p:nvSpPr>
        <p:spPr>
          <a:xfrm>
            <a:off x="6172200" y="3063240"/>
            <a:ext cx="5349240" cy="2468880"/>
          </a:xfrm>
          <a:prstGeom prst="roundRect">
            <a:avLst>
              <a:gd name="adj" fmla="val 2963"/>
            </a:avLst>
          </a:prstGeom>
          <a:solidFill>
            <a:srgbClr val="FFFFFF"/>
          </a:solidFill>
          <a:ln w="9525">
            <a:solidFill>
              <a:srgbClr val="D6E4F2"/>
            </a:solidFill>
            <a:prstDash val="solid"/>
          </a:ln>
        </p:spPr>
      </p:sp>
      <p:sp>
        <p:nvSpPr>
          <p:cNvPr id="25" name="Text 23"/>
          <p:cNvSpPr/>
          <p:nvPr/>
        </p:nvSpPr>
        <p:spPr>
          <a:xfrm>
            <a:off x="6446520" y="3337560"/>
            <a:ext cx="274320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Typical data-analysis use cases</a:t>
            </a:r>
            <a:endParaRPr lang="en-US" sz="1100" dirty="0"/>
          </a:p>
        </p:txBody>
      </p:sp>
      <p:sp>
        <p:nvSpPr>
          <p:cNvPr id="26" name="Text 24"/>
          <p:cNvSpPr/>
          <p:nvPr/>
        </p:nvSpPr>
        <p:spPr>
          <a:xfrm>
            <a:off x="6446520" y="3657600"/>
            <a:ext cx="4526280" cy="1417320"/>
          </a:xfrm>
          <a:prstGeom prst="rect">
            <a:avLst/>
          </a:prstGeom>
          <a:noFill/>
          <a:ln/>
        </p:spPr>
        <p:txBody>
          <a:bodyPr wrap="square" lIns="381" tIns="381" rIns="381" bIns="381" rtlCol="0" anchor="ctr">
            <a:normAutofit/>
          </a:bodyPr>
          <a:lstStyle/>
          <a:p>
            <a:pPr indent="0" marL="0">
              <a:buNone/>
            </a:pPr>
            <a:r>
              <a:rPr lang="en-US" sz="1050" dirty="0">
                <a:solidFill>
                  <a:srgbClr val="111827"/>
                </a:solidFill>
                <a:latin typeface="Aptos" pitchFamily="34" charset="0"/>
                <a:ea typeface="Aptos" pitchFamily="34" charset="-122"/>
                <a:cs typeface="Aptos" pitchFamily="34" charset="-120"/>
              </a:rPr>
              <a:t>• Exploratory data analysis (EDA)</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Data cleaning and transformation logic</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SQL query design and validation</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Python/R code generation</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Chart and dashboard interpretation</a:t>
            </a:r>
            <a:endParaRPr lang="en-US" sz="1050" dirty="0"/>
          </a:p>
          <a:p>
            <a:pPr indent="0" marL="0">
              <a:buNone/>
            </a:pPr>
            <a:r>
              <a:rPr lang="en-US" sz="1050" dirty="0">
                <a:solidFill>
                  <a:srgbClr val="111827"/>
                </a:solidFill>
                <a:latin typeface="Aptos" pitchFamily="34" charset="0"/>
                <a:ea typeface="Aptos" pitchFamily="34" charset="-122"/>
                <a:cs typeface="Aptos" pitchFamily="34" charset="-120"/>
              </a:rPr>
              <a:t>• Executive insight summaries</a:t>
            </a:r>
            <a:endParaRPr lang="en-US" sz="1050" dirty="0"/>
          </a:p>
        </p:txBody>
      </p:sp>
      <p:sp>
        <p:nvSpPr>
          <p:cNvPr id="27" name="Shape 25"/>
          <p:cNvSpPr/>
          <p:nvPr/>
        </p:nvSpPr>
        <p:spPr>
          <a:xfrm>
            <a:off x="685800" y="5715000"/>
            <a:ext cx="10698480" cy="256032"/>
          </a:xfrm>
          <a:prstGeom prst="roundRect">
            <a:avLst>
              <a:gd name="adj" fmla="val 50000"/>
            </a:avLst>
          </a:prstGeom>
          <a:solidFill>
            <a:srgbClr val="EAF4FF"/>
          </a:solidFill>
          <a:ln w="12700">
            <a:solidFill>
              <a:srgbClr val="EAF4FF"/>
            </a:solidFill>
            <a:prstDash val="solid"/>
          </a:ln>
        </p:spPr>
      </p:sp>
      <p:sp>
        <p:nvSpPr>
          <p:cNvPr id="28" name="Text 26"/>
          <p:cNvSpPr/>
          <p:nvPr/>
        </p:nvSpPr>
        <p:spPr>
          <a:xfrm>
            <a:off x="731520" y="5765292"/>
            <a:ext cx="10607040" cy="109728"/>
          </a:xfrm>
          <a:prstGeom prst="rect">
            <a:avLst/>
          </a:prstGeom>
          <a:noFill/>
          <a:ln/>
        </p:spPr>
        <p:txBody>
          <a:bodyPr wrap="square" lIns="0" tIns="0" rIns="0" bIns="0" rtlCol="0" anchor="ctr"/>
          <a:lstStyle/>
          <a:p>
            <a:pPr algn="ctr" indent="0" marL="0">
              <a:buNone/>
            </a:pPr>
            <a:r>
              <a:rPr lang="en-US" sz="850" b="1" dirty="0">
                <a:solidFill>
                  <a:srgbClr val="0F2D52"/>
                </a:solidFill>
                <a:latin typeface="Aptos" pitchFamily="34" charset="0"/>
                <a:ea typeface="Aptos" pitchFamily="34" charset="-122"/>
                <a:cs typeface="Aptos" pitchFamily="34" charset="-120"/>
              </a:rPr>
              <a:t>Key message: ChatGPT converts plain-language analytical questions into structured outputs analysts can validate and reuse.</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PRICING AND ACCESS</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Licensing and Platform Availability</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03</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972800" cy="320040"/>
          </a:xfrm>
          <a:prstGeom prst="rect">
            <a:avLst/>
          </a:prstGeom>
          <a:noFill/>
          <a:ln/>
        </p:spPr>
        <p:txBody>
          <a:bodyPr wrap="square" lIns="0" tIns="0" rIns="0" bIns="0" rtlCol="0" anchor="ctr"/>
          <a:lstStyle/>
          <a:p>
            <a:pPr indent="0" marL="0">
              <a:buNone/>
            </a:pPr>
            <a:r>
              <a:rPr lang="en-US" sz="1450" dirty="0">
                <a:solidFill>
                  <a:srgbClr val="111827"/>
                </a:solidFill>
                <a:latin typeface="Aptos" pitchFamily="34" charset="0"/>
                <a:ea typeface="Aptos" pitchFamily="34" charset="-122"/>
                <a:cs typeface="Aptos" pitchFamily="34" charset="-120"/>
              </a:rPr>
              <a:t>ChatGPT is available through free, individual paid, team, enterprise, and education offerings; specific capabilities and limits vary by plan.</a:t>
            </a:r>
            <a:endParaRPr lang="en-US" sz="1450" dirty="0"/>
          </a:p>
        </p:txBody>
      </p:sp>
      <p:sp>
        <p:nvSpPr>
          <p:cNvPr id="9" name="Shape 7"/>
          <p:cNvSpPr/>
          <p:nvPr/>
        </p:nvSpPr>
        <p:spPr>
          <a:xfrm>
            <a:off x="502920" y="1508760"/>
            <a:ext cx="1143000" cy="457200"/>
          </a:xfrm>
          <a:prstGeom prst="rect">
            <a:avLst/>
          </a:prstGeom>
          <a:solidFill>
            <a:srgbClr val="005A9C"/>
          </a:solidFill>
          <a:ln w="6350">
            <a:solidFill>
              <a:srgbClr val="D8E3F0"/>
            </a:solidFill>
            <a:prstDash val="solid"/>
          </a:ln>
        </p:spPr>
      </p:sp>
      <p:sp>
        <p:nvSpPr>
          <p:cNvPr id="10" name="Text 8"/>
          <p:cNvSpPr/>
          <p:nvPr/>
        </p:nvSpPr>
        <p:spPr>
          <a:xfrm>
            <a:off x="539496" y="1540764"/>
            <a:ext cx="1069848" cy="393192"/>
          </a:xfrm>
          <a:prstGeom prst="rect">
            <a:avLst/>
          </a:prstGeom>
          <a:noFill/>
          <a:ln/>
        </p:spPr>
        <p:txBody>
          <a:bodyPr wrap="square" lIns="127" tIns="127" rIns="127" bIns="127" rtlCol="0" anchor="ctr">
            <a:normAutofit/>
          </a:bodyPr>
          <a:lstStyle/>
          <a:p>
            <a:pPr indent="0" marL="0">
              <a:buNone/>
            </a:pPr>
            <a:r>
              <a:rPr lang="en-US" sz="750" b="1" dirty="0">
                <a:solidFill>
                  <a:srgbClr val="FFFFFF"/>
                </a:solidFill>
                <a:latin typeface="Aptos" pitchFamily="34" charset="0"/>
                <a:ea typeface="Aptos" pitchFamily="34" charset="-122"/>
                <a:cs typeface="Aptos" pitchFamily="34" charset="-120"/>
              </a:rPr>
              <a:t>Plan</a:t>
            </a:r>
            <a:endParaRPr lang="en-US" sz="750" dirty="0"/>
          </a:p>
        </p:txBody>
      </p:sp>
      <p:sp>
        <p:nvSpPr>
          <p:cNvPr id="11" name="Shape 9"/>
          <p:cNvSpPr/>
          <p:nvPr/>
        </p:nvSpPr>
        <p:spPr>
          <a:xfrm>
            <a:off x="1645920" y="1508760"/>
            <a:ext cx="1691640" cy="457200"/>
          </a:xfrm>
          <a:prstGeom prst="rect">
            <a:avLst/>
          </a:prstGeom>
          <a:solidFill>
            <a:srgbClr val="005A9C"/>
          </a:solidFill>
          <a:ln w="6350">
            <a:solidFill>
              <a:srgbClr val="D8E3F0"/>
            </a:solidFill>
            <a:prstDash val="solid"/>
          </a:ln>
        </p:spPr>
      </p:sp>
      <p:sp>
        <p:nvSpPr>
          <p:cNvPr id="12" name="Text 10"/>
          <p:cNvSpPr/>
          <p:nvPr/>
        </p:nvSpPr>
        <p:spPr>
          <a:xfrm>
            <a:off x="1682496" y="1540764"/>
            <a:ext cx="1618488" cy="393192"/>
          </a:xfrm>
          <a:prstGeom prst="rect">
            <a:avLst/>
          </a:prstGeom>
          <a:noFill/>
          <a:ln/>
        </p:spPr>
        <p:txBody>
          <a:bodyPr wrap="square" lIns="127" tIns="127" rIns="127" bIns="127" rtlCol="0" anchor="ctr">
            <a:normAutofit/>
          </a:bodyPr>
          <a:lstStyle/>
          <a:p>
            <a:pPr indent="0" marL="0">
              <a:buNone/>
            </a:pPr>
            <a:r>
              <a:rPr lang="en-US" sz="750" b="1" dirty="0">
                <a:solidFill>
                  <a:srgbClr val="FFFFFF"/>
                </a:solidFill>
                <a:latin typeface="Aptos" pitchFamily="34" charset="0"/>
                <a:ea typeface="Aptos" pitchFamily="34" charset="-122"/>
                <a:cs typeface="Aptos" pitchFamily="34" charset="-120"/>
              </a:rPr>
              <a:t>Typical user</a:t>
            </a:r>
            <a:endParaRPr lang="en-US" sz="750" dirty="0"/>
          </a:p>
        </p:txBody>
      </p:sp>
      <p:sp>
        <p:nvSpPr>
          <p:cNvPr id="13" name="Shape 11"/>
          <p:cNvSpPr/>
          <p:nvPr/>
        </p:nvSpPr>
        <p:spPr>
          <a:xfrm>
            <a:off x="3337560" y="1508760"/>
            <a:ext cx="1600200" cy="457200"/>
          </a:xfrm>
          <a:prstGeom prst="rect">
            <a:avLst/>
          </a:prstGeom>
          <a:solidFill>
            <a:srgbClr val="005A9C"/>
          </a:solidFill>
          <a:ln w="6350">
            <a:solidFill>
              <a:srgbClr val="D8E3F0"/>
            </a:solidFill>
            <a:prstDash val="solid"/>
          </a:ln>
        </p:spPr>
      </p:sp>
      <p:sp>
        <p:nvSpPr>
          <p:cNvPr id="14" name="Text 12"/>
          <p:cNvSpPr/>
          <p:nvPr/>
        </p:nvSpPr>
        <p:spPr>
          <a:xfrm>
            <a:off x="3374136" y="1540764"/>
            <a:ext cx="1527048" cy="393192"/>
          </a:xfrm>
          <a:prstGeom prst="rect">
            <a:avLst/>
          </a:prstGeom>
          <a:noFill/>
          <a:ln/>
        </p:spPr>
        <p:txBody>
          <a:bodyPr wrap="square" lIns="127" tIns="127" rIns="127" bIns="127" rtlCol="0" anchor="ctr">
            <a:normAutofit/>
          </a:bodyPr>
          <a:lstStyle/>
          <a:p>
            <a:pPr indent="0" marL="0">
              <a:buNone/>
            </a:pPr>
            <a:r>
              <a:rPr lang="en-US" sz="750" b="1" dirty="0">
                <a:solidFill>
                  <a:srgbClr val="FFFFFF"/>
                </a:solidFill>
                <a:latin typeface="Aptos" pitchFamily="34" charset="0"/>
                <a:ea typeface="Aptos" pitchFamily="34" charset="-122"/>
                <a:cs typeface="Aptos" pitchFamily="34" charset="-120"/>
              </a:rPr>
              <a:t>Price / license</a:t>
            </a:r>
            <a:endParaRPr lang="en-US" sz="750" dirty="0"/>
          </a:p>
        </p:txBody>
      </p:sp>
      <p:sp>
        <p:nvSpPr>
          <p:cNvPr id="15" name="Shape 13"/>
          <p:cNvSpPr/>
          <p:nvPr/>
        </p:nvSpPr>
        <p:spPr>
          <a:xfrm>
            <a:off x="4937760" y="1508760"/>
            <a:ext cx="3383280" cy="457200"/>
          </a:xfrm>
          <a:prstGeom prst="rect">
            <a:avLst/>
          </a:prstGeom>
          <a:solidFill>
            <a:srgbClr val="005A9C"/>
          </a:solidFill>
          <a:ln w="6350">
            <a:solidFill>
              <a:srgbClr val="D8E3F0"/>
            </a:solidFill>
            <a:prstDash val="solid"/>
          </a:ln>
        </p:spPr>
      </p:sp>
      <p:sp>
        <p:nvSpPr>
          <p:cNvPr id="16" name="Text 14"/>
          <p:cNvSpPr/>
          <p:nvPr/>
        </p:nvSpPr>
        <p:spPr>
          <a:xfrm>
            <a:off x="4974336" y="1540764"/>
            <a:ext cx="3310128" cy="393192"/>
          </a:xfrm>
          <a:prstGeom prst="rect">
            <a:avLst/>
          </a:prstGeom>
          <a:noFill/>
          <a:ln/>
        </p:spPr>
        <p:txBody>
          <a:bodyPr wrap="square" lIns="127" tIns="127" rIns="127" bIns="127" rtlCol="0" anchor="ctr">
            <a:normAutofit/>
          </a:bodyPr>
          <a:lstStyle/>
          <a:p>
            <a:pPr indent="0" marL="0">
              <a:buNone/>
            </a:pPr>
            <a:r>
              <a:rPr lang="en-US" sz="750" b="1" dirty="0">
                <a:solidFill>
                  <a:srgbClr val="FFFFFF"/>
                </a:solidFill>
                <a:latin typeface="Aptos" pitchFamily="34" charset="0"/>
                <a:ea typeface="Aptos" pitchFamily="34" charset="-122"/>
                <a:cs typeface="Aptos" pitchFamily="34" charset="-120"/>
              </a:rPr>
              <a:t>Value for analysts</a:t>
            </a:r>
            <a:endParaRPr lang="en-US" sz="750" dirty="0"/>
          </a:p>
        </p:txBody>
      </p:sp>
      <p:sp>
        <p:nvSpPr>
          <p:cNvPr id="17" name="Shape 15"/>
          <p:cNvSpPr/>
          <p:nvPr/>
        </p:nvSpPr>
        <p:spPr>
          <a:xfrm>
            <a:off x="502920" y="1965960"/>
            <a:ext cx="1143000" cy="457200"/>
          </a:xfrm>
          <a:prstGeom prst="rect">
            <a:avLst/>
          </a:prstGeom>
          <a:solidFill>
            <a:srgbClr val="F7FBFF"/>
          </a:solidFill>
          <a:ln w="6350">
            <a:solidFill>
              <a:srgbClr val="D8E3F0"/>
            </a:solidFill>
            <a:prstDash val="solid"/>
          </a:ln>
        </p:spPr>
      </p:sp>
      <p:sp>
        <p:nvSpPr>
          <p:cNvPr id="18" name="Text 16"/>
          <p:cNvSpPr/>
          <p:nvPr/>
        </p:nvSpPr>
        <p:spPr>
          <a:xfrm>
            <a:off x="539496" y="1997964"/>
            <a:ext cx="10698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Free</a:t>
            </a:r>
            <a:endParaRPr lang="en-US" sz="750" dirty="0"/>
          </a:p>
        </p:txBody>
      </p:sp>
      <p:sp>
        <p:nvSpPr>
          <p:cNvPr id="19" name="Shape 17"/>
          <p:cNvSpPr/>
          <p:nvPr/>
        </p:nvSpPr>
        <p:spPr>
          <a:xfrm>
            <a:off x="1645920" y="1965960"/>
            <a:ext cx="1691640" cy="457200"/>
          </a:xfrm>
          <a:prstGeom prst="rect">
            <a:avLst/>
          </a:prstGeom>
          <a:solidFill>
            <a:srgbClr val="F7FBFF"/>
          </a:solidFill>
          <a:ln w="6350">
            <a:solidFill>
              <a:srgbClr val="D8E3F0"/>
            </a:solidFill>
            <a:prstDash val="solid"/>
          </a:ln>
        </p:spPr>
      </p:sp>
      <p:sp>
        <p:nvSpPr>
          <p:cNvPr id="20" name="Text 18"/>
          <p:cNvSpPr/>
          <p:nvPr/>
        </p:nvSpPr>
        <p:spPr>
          <a:xfrm>
            <a:off x="1682496" y="1997964"/>
            <a:ext cx="161848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Trying ChatGPT / light use</a:t>
            </a:r>
            <a:endParaRPr lang="en-US" sz="750" dirty="0"/>
          </a:p>
        </p:txBody>
      </p:sp>
      <p:sp>
        <p:nvSpPr>
          <p:cNvPr id="21" name="Shape 19"/>
          <p:cNvSpPr/>
          <p:nvPr/>
        </p:nvSpPr>
        <p:spPr>
          <a:xfrm>
            <a:off x="3337560" y="1965960"/>
            <a:ext cx="1600200" cy="457200"/>
          </a:xfrm>
          <a:prstGeom prst="rect">
            <a:avLst/>
          </a:prstGeom>
          <a:solidFill>
            <a:srgbClr val="F7FBFF"/>
          </a:solidFill>
          <a:ln w="6350">
            <a:solidFill>
              <a:srgbClr val="D8E3F0"/>
            </a:solidFill>
            <a:prstDash val="solid"/>
          </a:ln>
        </p:spPr>
      </p:sp>
      <p:sp>
        <p:nvSpPr>
          <p:cNvPr id="22" name="Text 20"/>
          <p:cNvSpPr/>
          <p:nvPr/>
        </p:nvSpPr>
        <p:spPr>
          <a:xfrm>
            <a:off x="3374136" y="1997964"/>
            <a:ext cx="15270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$0/month</a:t>
            </a:r>
            <a:endParaRPr lang="en-US" sz="750" dirty="0"/>
          </a:p>
        </p:txBody>
      </p:sp>
      <p:sp>
        <p:nvSpPr>
          <p:cNvPr id="23" name="Shape 21"/>
          <p:cNvSpPr/>
          <p:nvPr/>
        </p:nvSpPr>
        <p:spPr>
          <a:xfrm>
            <a:off x="4937760" y="1965960"/>
            <a:ext cx="3383280" cy="457200"/>
          </a:xfrm>
          <a:prstGeom prst="rect">
            <a:avLst/>
          </a:prstGeom>
          <a:solidFill>
            <a:srgbClr val="F7FBFF"/>
          </a:solidFill>
          <a:ln w="6350">
            <a:solidFill>
              <a:srgbClr val="D8E3F0"/>
            </a:solidFill>
            <a:prstDash val="solid"/>
          </a:ln>
        </p:spPr>
      </p:sp>
      <p:sp>
        <p:nvSpPr>
          <p:cNvPr id="24" name="Text 22"/>
          <p:cNvSpPr/>
          <p:nvPr/>
        </p:nvSpPr>
        <p:spPr>
          <a:xfrm>
            <a:off x="4974336" y="1997964"/>
            <a:ext cx="331012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Basic learning, prompts, summaries, limited uploads</a:t>
            </a:r>
            <a:endParaRPr lang="en-US" sz="750" dirty="0"/>
          </a:p>
        </p:txBody>
      </p:sp>
      <p:sp>
        <p:nvSpPr>
          <p:cNvPr id="25" name="Shape 23"/>
          <p:cNvSpPr/>
          <p:nvPr/>
        </p:nvSpPr>
        <p:spPr>
          <a:xfrm>
            <a:off x="502920" y="2423160"/>
            <a:ext cx="1143000" cy="457200"/>
          </a:xfrm>
          <a:prstGeom prst="rect">
            <a:avLst/>
          </a:prstGeom>
          <a:solidFill>
            <a:srgbClr val="FFFFFF"/>
          </a:solidFill>
          <a:ln w="6350">
            <a:solidFill>
              <a:srgbClr val="D8E3F0"/>
            </a:solidFill>
            <a:prstDash val="solid"/>
          </a:ln>
        </p:spPr>
      </p:sp>
      <p:sp>
        <p:nvSpPr>
          <p:cNvPr id="26" name="Text 24"/>
          <p:cNvSpPr/>
          <p:nvPr/>
        </p:nvSpPr>
        <p:spPr>
          <a:xfrm>
            <a:off x="539496" y="2455164"/>
            <a:ext cx="10698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Go</a:t>
            </a:r>
            <a:endParaRPr lang="en-US" sz="750" dirty="0"/>
          </a:p>
        </p:txBody>
      </p:sp>
      <p:sp>
        <p:nvSpPr>
          <p:cNvPr id="27" name="Shape 25"/>
          <p:cNvSpPr/>
          <p:nvPr/>
        </p:nvSpPr>
        <p:spPr>
          <a:xfrm>
            <a:off x="1645920" y="2423160"/>
            <a:ext cx="1691640" cy="457200"/>
          </a:xfrm>
          <a:prstGeom prst="rect">
            <a:avLst/>
          </a:prstGeom>
          <a:solidFill>
            <a:srgbClr val="FFFFFF"/>
          </a:solidFill>
          <a:ln w="6350">
            <a:solidFill>
              <a:srgbClr val="D8E3F0"/>
            </a:solidFill>
            <a:prstDash val="solid"/>
          </a:ln>
        </p:spPr>
      </p:sp>
      <p:sp>
        <p:nvSpPr>
          <p:cNvPr id="28" name="Text 26"/>
          <p:cNvSpPr/>
          <p:nvPr/>
        </p:nvSpPr>
        <p:spPr>
          <a:xfrm>
            <a:off x="1682496" y="2455164"/>
            <a:ext cx="161848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Students / longer chats</a:t>
            </a:r>
            <a:endParaRPr lang="en-US" sz="750" dirty="0"/>
          </a:p>
        </p:txBody>
      </p:sp>
      <p:sp>
        <p:nvSpPr>
          <p:cNvPr id="29" name="Shape 27"/>
          <p:cNvSpPr/>
          <p:nvPr/>
        </p:nvSpPr>
        <p:spPr>
          <a:xfrm>
            <a:off x="3337560" y="2423160"/>
            <a:ext cx="1600200" cy="457200"/>
          </a:xfrm>
          <a:prstGeom prst="rect">
            <a:avLst/>
          </a:prstGeom>
          <a:solidFill>
            <a:srgbClr val="FFFFFF"/>
          </a:solidFill>
          <a:ln w="6350">
            <a:solidFill>
              <a:srgbClr val="D8E3F0"/>
            </a:solidFill>
            <a:prstDash val="solid"/>
          </a:ln>
        </p:spPr>
      </p:sp>
      <p:sp>
        <p:nvSpPr>
          <p:cNvPr id="30" name="Text 28"/>
          <p:cNvSpPr/>
          <p:nvPr/>
        </p:nvSpPr>
        <p:spPr>
          <a:xfrm>
            <a:off x="3374136" y="2455164"/>
            <a:ext cx="15270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$8/month (US)</a:t>
            </a:r>
            <a:endParaRPr lang="en-US" sz="750" dirty="0"/>
          </a:p>
        </p:txBody>
      </p:sp>
      <p:sp>
        <p:nvSpPr>
          <p:cNvPr id="31" name="Shape 29"/>
          <p:cNvSpPr/>
          <p:nvPr/>
        </p:nvSpPr>
        <p:spPr>
          <a:xfrm>
            <a:off x="4937760" y="2423160"/>
            <a:ext cx="3383280" cy="457200"/>
          </a:xfrm>
          <a:prstGeom prst="rect">
            <a:avLst/>
          </a:prstGeom>
          <a:solidFill>
            <a:srgbClr val="FFFFFF"/>
          </a:solidFill>
          <a:ln w="6350">
            <a:solidFill>
              <a:srgbClr val="D8E3F0"/>
            </a:solidFill>
            <a:prstDash val="solid"/>
          </a:ln>
        </p:spPr>
      </p:sp>
      <p:sp>
        <p:nvSpPr>
          <p:cNvPr id="32" name="Text 30"/>
          <p:cNvSpPr/>
          <p:nvPr/>
        </p:nvSpPr>
        <p:spPr>
          <a:xfrm>
            <a:off x="4974336" y="2455164"/>
            <a:ext cx="331012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More access, longer memory, more uploads</a:t>
            </a:r>
            <a:endParaRPr lang="en-US" sz="750" dirty="0"/>
          </a:p>
        </p:txBody>
      </p:sp>
      <p:sp>
        <p:nvSpPr>
          <p:cNvPr id="33" name="Shape 31"/>
          <p:cNvSpPr/>
          <p:nvPr/>
        </p:nvSpPr>
        <p:spPr>
          <a:xfrm>
            <a:off x="502920" y="2880360"/>
            <a:ext cx="1143000" cy="457200"/>
          </a:xfrm>
          <a:prstGeom prst="rect">
            <a:avLst/>
          </a:prstGeom>
          <a:solidFill>
            <a:srgbClr val="F7FBFF"/>
          </a:solidFill>
          <a:ln w="6350">
            <a:solidFill>
              <a:srgbClr val="D8E3F0"/>
            </a:solidFill>
            <a:prstDash val="solid"/>
          </a:ln>
        </p:spPr>
      </p:sp>
      <p:sp>
        <p:nvSpPr>
          <p:cNvPr id="34" name="Text 32"/>
          <p:cNvSpPr/>
          <p:nvPr/>
        </p:nvSpPr>
        <p:spPr>
          <a:xfrm>
            <a:off x="539496" y="2912364"/>
            <a:ext cx="10698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Plus</a:t>
            </a:r>
            <a:endParaRPr lang="en-US" sz="750" dirty="0"/>
          </a:p>
        </p:txBody>
      </p:sp>
      <p:sp>
        <p:nvSpPr>
          <p:cNvPr id="35" name="Shape 33"/>
          <p:cNvSpPr/>
          <p:nvPr/>
        </p:nvSpPr>
        <p:spPr>
          <a:xfrm>
            <a:off x="1645920" y="2880360"/>
            <a:ext cx="1691640" cy="457200"/>
          </a:xfrm>
          <a:prstGeom prst="rect">
            <a:avLst/>
          </a:prstGeom>
          <a:solidFill>
            <a:srgbClr val="F7FBFF"/>
          </a:solidFill>
          <a:ln w="6350">
            <a:solidFill>
              <a:srgbClr val="D8E3F0"/>
            </a:solidFill>
            <a:prstDash val="solid"/>
          </a:ln>
        </p:spPr>
      </p:sp>
      <p:sp>
        <p:nvSpPr>
          <p:cNvPr id="36" name="Text 34"/>
          <p:cNvSpPr/>
          <p:nvPr/>
        </p:nvSpPr>
        <p:spPr>
          <a:xfrm>
            <a:off x="1682496" y="2912364"/>
            <a:ext cx="161848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Advanced individual work</a:t>
            </a:r>
            <a:endParaRPr lang="en-US" sz="750" dirty="0"/>
          </a:p>
        </p:txBody>
      </p:sp>
      <p:sp>
        <p:nvSpPr>
          <p:cNvPr id="37" name="Shape 35"/>
          <p:cNvSpPr/>
          <p:nvPr/>
        </p:nvSpPr>
        <p:spPr>
          <a:xfrm>
            <a:off x="3337560" y="2880360"/>
            <a:ext cx="1600200" cy="457200"/>
          </a:xfrm>
          <a:prstGeom prst="rect">
            <a:avLst/>
          </a:prstGeom>
          <a:solidFill>
            <a:srgbClr val="F7FBFF"/>
          </a:solidFill>
          <a:ln w="6350">
            <a:solidFill>
              <a:srgbClr val="D8E3F0"/>
            </a:solidFill>
            <a:prstDash val="solid"/>
          </a:ln>
        </p:spPr>
      </p:sp>
      <p:sp>
        <p:nvSpPr>
          <p:cNvPr id="38" name="Text 36"/>
          <p:cNvSpPr/>
          <p:nvPr/>
        </p:nvSpPr>
        <p:spPr>
          <a:xfrm>
            <a:off x="3374136" y="2912364"/>
            <a:ext cx="15270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$20/month (US)</a:t>
            </a:r>
            <a:endParaRPr lang="en-US" sz="750" dirty="0"/>
          </a:p>
        </p:txBody>
      </p:sp>
      <p:sp>
        <p:nvSpPr>
          <p:cNvPr id="39" name="Shape 37"/>
          <p:cNvSpPr/>
          <p:nvPr/>
        </p:nvSpPr>
        <p:spPr>
          <a:xfrm>
            <a:off x="4937760" y="2880360"/>
            <a:ext cx="3383280" cy="457200"/>
          </a:xfrm>
          <a:prstGeom prst="rect">
            <a:avLst/>
          </a:prstGeom>
          <a:solidFill>
            <a:srgbClr val="F7FBFF"/>
          </a:solidFill>
          <a:ln w="6350">
            <a:solidFill>
              <a:srgbClr val="D8E3F0"/>
            </a:solidFill>
            <a:prstDash val="solid"/>
          </a:ln>
        </p:spPr>
      </p:sp>
      <p:sp>
        <p:nvSpPr>
          <p:cNvPr id="40" name="Text 38"/>
          <p:cNvSpPr/>
          <p:nvPr/>
        </p:nvSpPr>
        <p:spPr>
          <a:xfrm>
            <a:off x="4974336" y="2912364"/>
            <a:ext cx="331012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Better productivity, reasoning, uploads, projects</a:t>
            </a:r>
            <a:endParaRPr lang="en-US" sz="750" dirty="0"/>
          </a:p>
        </p:txBody>
      </p:sp>
      <p:sp>
        <p:nvSpPr>
          <p:cNvPr id="41" name="Shape 39"/>
          <p:cNvSpPr/>
          <p:nvPr/>
        </p:nvSpPr>
        <p:spPr>
          <a:xfrm>
            <a:off x="502920" y="3337560"/>
            <a:ext cx="1143000" cy="457200"/>
          </a:xfrm>
          <a:prstGeom prst="rect">
            <a:avLst/>
          </a:prstGeom>
          <a:solidFill>
            <a:srgbClr val="FFFFFF"/>
          </a:solidFill>
          <a:ln w="6350">
            <a:solidFill>
              <a:srgbClr val="D8E3F0"/>
            </a:solidFill>
            <a:prstDash val="solid"/>
          </a:ln>
        </p:spPr>
      </p:sp>
      <p:sp>
        <p:nvSpPr>
          <p:cNvPr id="42" name="Text 40"/>
          <p:cNvSpPr/>
          <p:nvPr/>
        </p:nvSpPr>
        <p:spPr>
          <a:xfrm>
            <a:off x="539496" y="3369564"/>
            <a:ext cx="10698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Pro</a:t>
            </a:r>
            <a:endParaRPr lang="en-US" sz="750" dirty="0"/>
          </a:p>
        </p:txBody>
      </p:sp>
      <p:sp>
        <p:nvSpPr>
          <p:cNvPr id="43" name="Shape 41"/>
          <p:cNvSpPr/>
          <p:nvPr/>
        </p:nvSpPr>
        <p:spPr>
          <a:xfrm>
            <a:off x="1645920" y="3337560"/>
            <a:ext cx="1691640" cy="457200"/>
          </a:xfrm>
          <a:prstGeom prst="rect">
            <a:avLst/>
          </a:prstGeom>
          <a:solidFill>
            <a:srgbClr val="FFFFFF"/>
          </a:solidFill>
          <a:ln w="6350">
            <a:solidFill>
              <a:srgbClr val="D8E3F0"/>
            </a:solidFill>
            <a:prstDash val="solid"/>
          </a:ln>
        </p:spPr>
      </p:sp>
      <p:sp>
        <p:nvSpPr>
          <p:cNvPr id="44" name="Text 42"/>
          <p:cNvSpPr/>
          <p:nvPr/>
        </p:nvSpPr>
        <p:spPr>
          <a:xfrm>
            <a:off x="1682496" y="3369564"/>
            <a:ext cx="161848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Heavy research and coding</a:t>
            </a:r>
            <a:endParaRPr lang="en-US" sz="750" dirty="0"/>
          </a:p>
        </p:txBody>
      </p:sp>
      <p:sp>
        <p:nvSpPr>
          <p:cNvPr id="45" name="Shape 43"/>
          <p:cNvSpPr/>
          <p:nvPr/>
        </p:nvSpPr>
        <p:spPr>
          <a:xfrm>
            <a:off x="3337560" y="3337560"/>
            <a:ext cx="1600200" cy="457200"/>
          </a:xfrm>
          <a:prstGeom prst="rect">
            <a:avLst/>
          </a:prstGeom>
          <a:solidFill>
            <a:srgbClr val="FFFFFF"/>
          </a:solidFill>
          <a:ln w="6350">
            <a:solidFill>
              <a:srgbClr val="D8E3F0"/>
            </a:solidFill>
            <a:prstDash val="solid"/>
          </a:ln>
        </p:spPr>
      </p:sp>
      <p:sp>
        <p:nvSpPr>
          <p:cNvPr id="46" name="Text 44"/>
          <p:cNvSpPr/>
          <p:nvPr/>
        </p:nvSpPr>
        <p:spPr>
          <a:xfrm>
            <a:off x="3374136" y="3369564"/>
            <a:ext cx="15270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$100 or $200/month tiers</a:t>
            </a:r>
            <a:endParaRPr lang="en-US" sz="750" dirty="0"/>
          </a:p>
        </p:txBody>
      </p:sp>
      <p:sp>
        <p:nvSpPr>
          <p:cNvPr id="47" name="Shape 45"/>
          <p:cNvSpPr/>
          <p:nvPr/>
        </p:nvSpPr>
        <p:spPr>
          <a:xfrm>
            <a:off x="4937760" y="3337560"/>
            <a:ext cx="3383280" cy="457200"/>
          </a:xfrm>
          <a:prstGeom prst="rect">
            <a:avLst/>
          </a:prstGeom>
          <a:solidFill>
            <a:srgbClr val="FFFFFF"/>
          </a:solidFill>
          <a:ln w="6350">
            <a:solidFill>
              <a:srgbClr val="D8E3F0"/>
            </a:solidFill>
            <a:prstDash val="solid"/>
          </a:ln>
        </p:spPr>
      </p:sp>
      <p:sp>
        <p:nvSpPr>
          <p:cNvPr id="48" name="Text 46"/>
          <p:cNvSpPr/>
          <p:nvPr/>
        </p:nvSpPr>
        <p:spPr>
          <a:xfrm>
            <a:off x="4974336" y="3369564"/>
            <a:ext cx="331012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Higher usage for intensive analytics and coding</a:t>
            </a:r>
            <a:endParaRPr lang="en-US" sz="750" dirty="0"/>
          </a:p>
        </p:txBody>
      </p:sp>
      <p:sp>
        <p:nvSpPr>
          <p:cNvPr id="49" name="Shape 47"/>
          <p:cNvSpPr/>
          <p:nvPr/>
        </p:nvSpPr>
        <p:spPr>
          <a:xfrm>
            <a:off x="502920" y="3794760"/>
            <a:ext cx="1143000" cy="457200"/>
          </a:xfrm>
          <a:prstGeom prst="rect">
            <a:avLst/>
          </a:prstGeom>
          <a:solidFill>
            <a:srgbClr val="F7FBFF"/>
          </a:solidFill>
          <a:ln w="6350">
            <a:solidFill>
              <a:srgbClr val="D8E3F0"/>
            </a:solidFill>
            <a:prstDash val="solid"/>
          </a:ln>
        </p:spPr>
      </p:sp>
      <p:sp>
        <p:nvSpPr>
          <p:cNvPr id="50" name="Text 48"/>
          <p:cNvSpPr/>
          <p:nvPr/>
        </p:nvSpPr>
        <p:spPr>
          <a:xfrm>
            <a:off x="539496" y="3826764"/>
            <a:ext cx="10698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Business</a:t>
            </a:r>
            <a:endParaRPr lang="en-US" sz="750" dirty="0"/>
          </a:p>
        </p:txBody>
      </p:sp>
      <p:sp>
        <p:nvSpPr>
          <p:cNvPr id="51" name="Shape 49"/>
          <p:cNvSpPr/>
          <p:nvPr/>
        </p:nvSpPr>
        <p:spPr>
          <a:xfrm>
            <a:off x="1645920" y="3794760"/>
            <a:ext cx="1691640" cy="457200"/>
          </a:xfrm>
          <a:prstGeom prst="rect">
            <a:avLst/>
          </a:prstGeom>
          <a:solidFill>
            <a:srgbClr val="F7FBFF"/>
          </a:solidFill>
          <a:ln w="6350">
            <a:solidFill>
              <a:srgbClr val="D8E3F0"/>
            </a:solidFill>
            <a:prstDash val="solid"/>
          </a:ln>
        </p:spPr>
      </p:sp>
      <p:sp>
        <p:nvSpPr>
          <p:cNvPr id="52" name="Text 50"/>
          <p:cNvSpPr/>
          <p:nvPr/>
        </p:nvSpPr>
        <p:spPr>
          <a:xfrm>
            <a:off x="1682496" y="3826764"/>
            <a:ext cx="161848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Teams and organizations</a:t>
            </a:r>
            <a:endParaRPr lang="en-US" sz="750" dirty="0"/>
          </a:p>
        </p:txBody>
      </p:sp>
      <p:sp>
        <p:nvSpPr>
          <p:cNvPr id="53" name="Shape 51"/>
          <p:cNvSpPr/>
          <p:nvPr/>
        </p:nvSpPr>
        <p:spPr>
          <a:xfrm>
            <a:off x="3337560" y="3794760"/>
            <a:ext cx="1600200" cy="457200"/>
          </a:xfrm>
          <a:prstGeom prst="rect">
            <a:avLst/>
          </a:prstGeom>
          <a:solidFill>
            <a:srgbClr val="F7FBFF"/>
          </a:solidFill>
          <a:ln w="6350">
            <a:solidFill>
              <a:srgbClr val="D8E3F0"/>
            </a:solidFill>
            <a:prstDash val="solid"/>
          </a:ln>
        </p:spPr>
      </p:sp>
      <p:sp>
        <p:nvSpPr>
          <p:cNvPr id="54" name="Text 52"/>
          <p:cNvSpPr/>
          <p:nvPr/>
        </p:nvSpPr>
        <p:spPr>
          <a:xfrm>
            <a:off x="3374136" y="3826764"/>
            <a:ext cx="15270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$25/user/month or $20 annual</a:t>
            </a:r>
            <a:endParaRPr lang="en-US" sz="750" dirty="0"/>
          </a:p>
        </p:txBody>
      </p:sp>
      <p:sp>
        <p:nvSpPr>
          <p:cNvPr id="55" name="Shape 53"/>
          <p:cNvSpPr/>
          <p:nvPr/>
        </p:nvSpPr>
        <p:spPr>
          <a:xfrm>
            <a:off x="4937760" y="3794760"/>
            <a:ext cx="3383280" cy="457200"/>
          </a:xfrm>
          <a:prstGeom prst="rect">
            <a:avLst/>
          </a:prstGeom>
          <a:solidFill>
            <a:srgbClr val="F7FBFF"/>
          </a:solidFill>
          <a:ln w="6350">
            <a:solidFill>
              <a:srgbClr val="D8E3F0"/>
            </a:solidFill>
            <a:prstDash val="solid"/>
          </a:ln>
        </p:spPr>
      </p:sp>
      <p:sp>
        <p:nvSpPr>
          <p:cNvPr id="56" name="Text 54"/>
          <p:cNvSpPr/>
          <p:nvPr/>
        </p:nvSpPr>
        <p:spPr>
          <a:xfrm>
            <a:off x="4974336" y="3826764"/>
            <a:ext cx="331012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Workspace, admin controls, team use; min. 2 seats</a:t>
            </a:r>
            <a:endParaRPr lang="en-US" sz="750" dirty="0"/>
          </a:p>
        </p:txBody>
      </p:sp>
      <p:sp>
        <p:nvSpPr>
          <p:cNvPr id="57" name="Shape 55"/>
          <p:cNvSpPr/>
          <p:nvPr/>
        </p:nvSpPr>
        <p:spPr>
          <a:xfrm>
            <a:off x="502920" y="4251960"/>
            <a:ext cx="1143000" cy="457200"/>
          </a:xfrm>
          <a:prstGeom prst="rect">
            <a:avLst/>
          </a:prstGeom>
          <a:solidFill>
            <a:srgbClr val="FFFFFF"/>
          </a:solidFill>
          <a:ln w="6350">
            <a:solidFill>
              <a:srgbClr val="D8E3F0"/>
            </a:solidFill>
            <a:prstDash val="solid"/>
          </a:ln>
        </p:spPr>
      </p:sp>
      <p:sp>
        <p:nvSpPr>
          <p:cNvPr id="58" name="Text 56"/>
          <p:cNvSpPr/>
          <p:nvPr/>
        </p:nvSpPr>
        <p:spPr>
          <a:xfrm>
            <a:off x="539496" y="4283964"/>
            <a:ext cx="10698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Enterprise / Edu</a:t>
            </a:r>
            <a:endParaRPr lang="en-US" sz="750" dirty="0"/>
          </a:p>
        </p:txBody>
      </p:sp>
      <p:sp>
        <p:nvSpPr>
          <p:cNvPr id="59" name="Shape 57"/>
          <p:cNvSpPr/>
          <p:nvPr/>
        </p:nvSpPr>
        <p:spPr>
          <a:xfrm>
            <a:off x="1645920" y="4251960"/>
            <a:ext cx="1691640" cy="457200"/>
          </a:xfrm>
          <a:prstGeom prst="rect">
            <a:avLst/>
          </a:prstGeom>
          <a:solidFill>
            <a:srgbClr val="FFFFFF"/>
          </a:solidFill>
          <a:ln w="6350">
            <a:solidFill>
              <a:srgbClr val="D8E3F0"/>
            </a:solidFill>
            <a:prstDash val="solid"/>
          </a:ln>
        </p:spPr>
      </p:sp>
      <p:sp>
        <p:nvSpPr>
          <p:cNvPr id="60" name="Text 58"/>
          <p:cNvSpPr/>
          <p:nvPr/>
        </p:nvSpPr>
        <p:spPr>
          <a:xfrm>
            <a:off x="1682496" y="4283964"/>
            <a:ext cx="161848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Large organizations / institutions</a:t>
            </a:r>
            <a:endParaRPr lang="en-US" sz="750" dirty="0"/>
          </a:p>
        </p:txBody>
      </p:sp>
      <p:sp>
        <p:nvSpPr>
          <p:cNvPr id="61" name="Shape 59"/>
          <p:cNvSpPr/>
          <p:nvPr/>
        </p:nvSpPr>
        <p:spPr>
          <a:xfrm>
            <a:off x="3337560" y="4251960"/>
            <a:ext cx="1600200" cy="457200"/>
          </a:xfrm>
          <a:prstGeom prst="rect">
            <a:avLst/>
          </a:prstGeom>
          <a:solidFill>
            <a:srgbClr val="FFFFFF"/>
          </a:solidFill>
          <a:ln w="6350">
            <a:solidFill>
              <a:srgbClr val="D8E3F0"/>
            </a:solidFill>
            <a:prstDash val="solid"/>
          </a:ln>
        </p:spPr>
      </p:sp>
      <p:sp>
        <p:nvSpPr>
          <p:cNvPr id="62" name="Text 60"/>
          <p:cNvSpPr/>
          <p:nvPr/>
        </p:nvSpPr>
        <p:spPr>
          <a:xfrm>
            <a:off x="3374136" y="4283964"/>
            <a:ext cx="152704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Contact sales</a:t>
            </a:r>
            <a:endParaRPr lang="en-US" sz="750" dirty="0"/>
          </a:p>
        </p:txBody>
      </p:sp>
      <p:sp>
        <p:nvSpPr>
          <p:cNvPr id="63" name="Shape 61"/>
          <p:cNvSpPr/>
          <p:nvPr/>
        </p:nvSpPr>
        <p:spPr>
          <a:xfrm>
            <a:off x="4937760" y="4251960"/>
            <a:ext cx="3383280" cy="457200"/>
          </a:xfrm>
          <a:prstGeom prst="rect">
            <a:avLst/>
          </a:prstGeom>
          <a:solidFill>
            <a:srgbClr val="FFFFFF"/>
          </a:solidFill>
          <a:ln w="6350">
            <a:solidFill>
              <a:srgbClr val="D8E3F0"/>
            </a:solidFill>
            <a:prstDash val="solid"/>
          </a:ln>
        </p:spPr>
      </p:sp>
      <p:sp>
        <p:nvSpPr>
          <p:cNvPr id="64" name="Text 62"/>
          <p:cNvSpPr/>
          <p:nvPr/>
        </p:nvSpPr>
        <p:spPr>
          <a:xfrm>
            <a:off x="4974336" y="4283964"/>
            <a:ext cx="3310128" cy="393192"/>
          </a:xfrm>
          <a:prstGeom prst="rect">
            <a:avLst/>
          </a:prstGeom>
          <a:noFill/>
          <a:ln/>
        </p:spPr>
        <p:txBody>
          <a:bodyPr wrap="square" lIns="127" tIns="127" rIns="127" bIns="127"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Scale, security, governance, deployment support</a:t>
            </a:r>
            <a:endParaRPr lang="en-US" sz="750" dirty="0"/>
          </a:p>
        </p:txBody>
      </p:sp>
      <p:sp>
        <p:nvSpPr>
          <p:cNvPr id="65" name="Shape 63"/>
          <p:cNvSpPr/>
          <p:nvPr/>
        </p:nvSpPr>
        <p:spPr>
          <a:xfrm>
            <a:off x="8641080" y="1508760"/>
            <a:ext cx="2971800" cy="4023360"/>
          </a:xfrm>
          <a:prstGeom prst="roundRect">
            <a:avLst>
              <a:gd name="adj" fmla="val 2462"/>
            </a:avLst>
          </a:prstGeom>
          <a:solidFill>
            <a:srgbClr val="F5FAFF"/>
          </a:solidFill>
          <a:ln w="9525">
            <a:solidFill>
              <a:srgbClr val="D6E4F2"/>
            </a:solidFill>
            <a:prstDash val="solid"/>
          </a:ln>
        </p:spPr>
      </p:sp>
      <p:sp>
        <p:nvSpPr>
          <p:cNvPr id="66" name="Text 64"/>
          <p:cNvSpPr/>
          <p:nvPr/>
        </p:nvSpPr>
        <p:spPr>
          <a:xfrm>
            <a:off x="8915400" y="1783080"/>
            <a:ext cx="219456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Availability</a:t>
            </a:r>
            <a:endParaRPr lang="en-US" sz="1100" dirty="0"/>
          </a:p>
        </p:txBody>
      </p:sp>
      <p:sp>
        <p:nvSpPr>
          <p:cNvPr id="67" name="Text 65"/>
          <p:cNvSpPr/>
          <p:nvPr/>
        </p:nvSpPr>
        <p:spPr>
          <a:xfrm>
            <a:off x="8915400" y="2148840"/>
            <a:ext cx="320040" cy="22860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68" name="Text 66"/>
          <p:cNvSpPr/>
          <p:nvPr/>
        </p:nvSpPr>
        <p:spPr>
          <a:xfrm>
            <a:off x="9326880" y="2167128"/>
            <a:ext cx="777240" cy="182880"/>
          </a:xfrm>
          <a:prstGeom prst="rect">
            <a:avLst/>
          </a:prstGeom>
          <a:noFill/>
          <a:ln/>
        </p:spPr>
        <p:txBody>
          <a:bodyPr wrap="square" lIns="0" tIns="0" rIns="0" bIns="0" rtlCol="0" anchor="ctr"/>
          <a:lstStyle/>
          <a:p>
            <a:pPr indent="0" marL="0">
              <a:buNone/>
            </a:pPr>
            <a:r>
              <a:rPr lang="en-US" sz="1050" b="1" dirty="0">
                <a:solidFill>
                  <a:srgbClr val="0F2D52"/>
                </a:solidFill>
                <a:latin typeface="Aptos" pitchFamily="34" charset="0"/>
                <a:ea typeface="Aptos" pitchFamily="34" charset="-122"/>
                <a:cs typeface="Aptos" pitchFamily="34" charset="-120"/>
              </a:rPr>
              <a:t>Web</a:t>
            </a:r>
            <a:endParaRPr lang="en-US" sz="1050" dirty="0"/>
          </a:p>
        </p:txBody>
      </p:sp>
      <p:sp>
        <p:nvSpPr>
          <p:cNvPr id="69" name="Text 67"/>
          <p:cNvSpPr/>
          <p:nvPr/>
        </p:nvSpPr>
        <p:spPr>
          <a:xfrm>
            <a:off x="10104120" y="2167128"/>
            <a:ext cx="1005840" cy="182880"/>
          </a:xfrm>
          <a:prstGeom prst="rect">
            <a:avLst/>
          </a:prstGeom>
          <a:noFill/>
          <a:ln/>
        </p:spPr>
        <p:txBody>
          <a:bodyPr wrap="square" lIns="0" tIns="0" rIns="0" bIns="0" rtlCol="0" anchor="ctr"/>
          <a:lstStyle/>
          <a:p>
            <a:pPr indent="0" marL="0">
              <a:buNone/>
            </a:pPr>
            <a:r>
              <a:rPr lang="en-US" sz="900" dirty="0">
                <a:solidFill>
                  <a:srgbClr val="6B7280"/>
                </a:solidFill>
                <a:latin typeface="Aptos" pitchFamily="34" charset="0"/>
                <a:ea typeface="Aptos" pitchFamily="34" charset="-122"/>
                <a:cs typeface="Aptos" pitchFamily="34" charset="-120"/>
              </a:rPr>
              <a:t>chatgpt.com</a:t>
            </a:r>
            <a:endParaRPr lang="en-US" sz="900" dirty="0"/>
          </a:p>
        </p:txBody>
      </p:sp>
      <p:sp>
        <p:nvSpPr>
          <p:cNvPr id="70" name="Text 68"/>
          <p:cNvSpPr/>
          <p:nvPr/>
        </p:nvSpPr>
        <p:spPr>
          <a:xfrm>
            <a:off x="8915400" y="2715768"/>
            <a:ext cx="320040" cy="22860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71" name="Text 69"/>
          <p:cNvSpPr/>
          <p:nvPr/>
        </p:nvSpPr>
        <p:spPr>
          <a:xfrm>
            <a:off x="9326880" y="2734056"/>
            <a:ext cx="777240" cy="182880"/>
          </a:xfrm>
          <a:prstGeom prst="rect">
            <a:avLst/>
          </a:prstGeom>
          <a:noFill/>
          <a:ln/>
        </p:spPr>
        <p:txBody>
          <a:bodyPr wrap="square" lIns="0" tIns="0" rIns="0" bIns="0" rtlCol="0" anchor="ctr"/>
          <a:lstStyle/>
          <a:p>
            <a:pPr indent="0" marL="0">
              <a:buNone/>
            </a:pPr>
            <a:r>
              <a:rPr lang="en-US" sz="1050" b="1" dirty="0">
                <a:solidFill>
                  <a:srgbClr val="0F2D52"/>
                </a:solidFill>
                <a:latin typeface="Aptos" pitchFamily="34" charset="0"/>
                <a:ea typeface="Aptos" pitchFamily="34" charset="-122"/>
                <a:cs typeface="Aptos" pitchFamily="34" charset="-120"/>
              </a:rPr>
              <a:t>Windows</a:t>
            </a:r>
            <a:endParaRPr lang="en-US" sz="1050" dirty="0"/>
          </a:p>
        </p:txBody>
      </p:sp>
      <p:sp>
        <p:nvSpPr>
          <p:cNvPr id="72" name="Text 70"/>
          <p:cNvSpPr/>
          <p:nvPr/>
        </p:nvSpPr>
        <p:spPr>
          <a:xfrm>
            <a:off x="10104120" y="2734056"/>
            <a:ext cx="1005840" cy="182880"/>
          </a:xfrm>
          <a:prstGeom prst="rect">
            <a:avLst/>
          </a:prstGeom>
          <a:noFill/>
          <a:ln/>
        </p:spPr>
        <p:txBody>
          <a:bodyPr wrap="square" lIns="0" tIns="0" rIns="0" bIns="0" rtlCol="0" anchor="ctr"/>
          <a:lstStyle/>
          <a:p>
            <a:pPr indent="0" marL="0">
              <a:buNone/>
            </a:pPr>
            <a:r>
              <a:rPr lang="en-US" sz="900" dirty="0">
                <a:solidFill>
                  <a:srgbClr val="6B7280"/>
                </a:solidFill>
                <a:latin typeface="Aptos" pitchFamily="34" charset="0"/>
                <a:ea typeface="Aptos" pitchFamily="34" charset="-122"/>
                <a:cs typeface="Aptos" pitchFamily="34" charset="-120"/>
              </a:rPr>
              <a:t>Desktop app</a:t>
            </a:r>
            <a:endParaRPr lang="en-US" sz="900" dirty="0"/>
          </a:p>
        </p:txBody>
      </p:sp>
      <p:sp>
        <p:nvSpPr>
          <p:cNvPr id="73" name="Text 71"/>
          <p:cNvSpPr/>
          <p:nvPr/>
        </p:nvSpPr>
        <p:spPr>
          <a:xfrm>
            <a:off x="8915400" y="3282696"/>
            <a:ext cx="320040" cy="22860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74" name="Text 72"/>
          <p:cNvSpPr/>
          <p:nvPr/>
        </p:nvSpPr>
        <p:spPr>
          <a:xfrm>
            <a:off x="9326880" y="3300984"/>
            <a:ext cx="777240" cy="182880"/>
          </a:xfrm>
          <a:prstGeom prst="rect">
            <a:avLst/>
          </a:prstGeom>
          <a:noFill/>
          <a:ln/>
        </p:spPr>
        <p:txBody>
          <a:bodyPr wrap="square" lIns="0" tIns="0" rIns="0" bIns="0" rtlCol="0" anchor="ctr"/>
          <a:lstStyle/>
          <a:p>
            <a:pPr indent="0" marL="0">
              <a:buNone/>
            </a:pPr>
            <a:r>
              <a:rPr lang="en-US" sz="1050" b="1" dirty="0">
                <a:solidFill>
                  <a:srgbClr val="0F2D52"/>
                </a:solidFill>
                <a:latin typeface="Aptos" pitchFamily="34" charset="0"/>
                <a:ea typeface="Aptos" pitchFamily="34" charset="-122"/>
                <a:cs typeface="Aptos" pitchFamily="34" charset="-120"/>
              </a:rPr>
              <a:t>macOS</a:t>
            </a:r>
            <a:endParaRPr lang="en-US" sz="1050" dirty="0"/>
          </a:p>
        </p:txBody>
      </p:sp>
      <p:sp>
        <p:nvSpPr>
          <p:cNvPr id="75" name="Text 73"/>
          <p:cNvSpPr/>
          <p:nvPr/>
        </p:nvSpPr>
        <p:spPr>
          <a:xfrm>
            <a:off x="10104120" y="3300984"/>
            <a:ext cx="1005840" cy="182880"/>
          </a:xfrm>
          <a:prstGeom prst="rect">
            <a:avLst/>
          </a:prstGeom>
          <a:noFill/>
          <a:ln/>
        </p:spPr>
        <p:txBody>
          <a:bodyPr wrap="square" lIns="0" tIns="0" rIns="0" bIns="0" rtlCol="0" anchor="ctr"/>
          <a:lstStyle/>
          <a:p>
            <a:pPr indent="0" marL="0">
              <a:buNone/>
            </a:pPr>
            <a:r>
              <a:rPr lang="en-US" sz="900" dirty="0">
                <a:solidFill>
                  <a:srgbClr val="6B7280"/>
                </a:solidFill>
                <a:latin typeface="Aptos" pitchFamily="34" charset="0"/>
                <a:ea typeface="Aptos" pitchFamily="34" charset="-122"/>
                <a:cs typeface="Aptos" pitchFamily="34" charset="-120"/>
              </a:rPr>
              <a:t>Desktop app</a:t>
            </a:r>
            <a:endParaRPr lang="en-US" sz="900" dirty="0"/>
          </a:p>
        </p:txBody>
      </p:sp>
      <p:sp>
        <p:nvSpPr>
          <p:cNvPr id="76" name="Text 74"/>
          <p:cNvSpPr/>
          <p:nvPr/>
        </p:nvSpPr>
        <p:spPr>
          <a:xfrm>
            <a:off x="8915400" y="3849624"/>
            <a:ext cx="320040" cy="22860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77" name="Text 75"/>
          <p:cNvSpPr/>
          <p:nvPr/>
        </p:nvSpPr>
        <p:spPr>
          <a:xfrm>
            <a:off x="9326880" y="3867912"/>
            <a:ext cx="777240" cy="182880"/>
          </a:xfrm>
          <a:prstGeom prst="rect">
            <a:avLst/>
          </a:prstGeom>
          <a:noFill/>
          <a:ln/>
        </p:spPr>
        <p:txBody>
          <a:bodyPr wrap="square" lIns="0" tIns="0" rIns="0" bIns="0" rtlCol="0" anchor="ctr"/>
          <a:lstStyle/>
          <a:p>
            <a:pPr indent="0" marL="0">
              <a:buNone/>
            </a:pPr>
            <a:r>
              <a:rPr lang="en-US" sz="1050" b="1" dirty="0">
                <a:solidFill>
                  <a:srgbClr val="0F2D52"/>
                </a:solidFill>
                <a:latin typeface="Aptos" pitchFamily="34" charset="0"/>
                <a:ea typeface="Aptos" pitchFamily="34" charset="-122"/>
                <a:cs typeface="Aptos" pitchFamily="34" charset="-120"/>
              </a:rPr>
              <a:t>iOS</a:t>
            </a:r>
            <a:endParaRPr lang="en-US" sz="1050" dirty="0"/>
          </a:p>
        </p:txBody>
      </p:sp>
      <p:sp>
        <p:nvSpPr>
          <p:cNvPr id="78" name="Text 76"/>
          <p:cNvSpPr/>
          <p:nvPr/>
        </p:nvSpPr>
        <p:spPr>
          <a:xfrm>
            <a:off x="10104120" y="3867912"/>
            <a:ext cx="1005840" cy="182880"/>
          </a:xfrm>
          <a:prstGeom prst="rect">
            <a:avLst/>
          </a:prstGeom>
          <a:noFill/>
          <a:ln/>
        </p:spPr>
        <p:txBody>
          <a:bodyPr wrap="square" lIns="0" tIns="0" rIns="0" bIns="0" rtlCol="0" anchor="ctr"/>
          <a:lstStyle/>
          <a:p>
            <a:pPr indent="0" marL="0">
              <a:buNone/>
            </a:pPr>
            <a:r>
              <a:rPr lang="en-US" sz="900" dirty="0">
                <a:solidFill>
                  <a:srgbClr val="6B7280"/>
                </a:solidFill>
                <a:latin typeface="Aptos" pitchFamily="34" charset="0"/>
                <a:ea typeface="Aptos" pitchFamily="34" charset="-122"/>
                <a:cs typeface="Aptos" pitchFamily="34" charset="-120"/>
              </a:rPr>
              <a:t>iPhone / iPad</a:t>
            </a:r>
            <a:endParaRPr lang="en-US" sz="900" dirty="0"/>
          </a:p>
        </p:txBody>
      </p:sp>
      <p:sp>
        <p:nvSpPr>
          <p:cNvPr id="79" name="Text 77"/>
          <p:cNvSpPr/>
          <p:nvPr/>
        </p:nvSpPr>
        <p:spPr>
          <a:xfrm>
            <a:off x="8915400" y="4416552"/>
            <a:ext cx="320040" cy="228600"/>
          </a:xfrm>
          <a:prstGeom prst="rect">
            <a:avLst/>
          </a:prstGeom>
          <a:noFill/>
          <a:ln/>
        </p:spPr>
        <p:txBody>
          <a:bodyPr wrap="square" lIns="0" tIns="0" rIns="0" bIns="0" rtlCol="0" anchor="ctr"/>
          <a:lstStyle/>
          <a:p>
            <a:pPr indent="0" marL="0">
              <a:buNone/>
            </a:pPr>
            <a:r>
              <a:rPr lang="en-US" sz="1400" dirty="0">
                <a:solidFill>
                  <a:srgbClr val="000000"/>
                </a:solidFill>
              </a:rPr>
              <a:t>🤖</a:t>
            </a:r>
            <a:endParaRPr lang="en-US" sz="1400" dirty="0"/>
          </a:p>
        </p:txBody>
      </p:sp>
      <p:sp>
        <p:nvSpPr>
          <p:cNvPr id="80" name="Text 78"/>
          <p:cNvSpPr/>
          <p:nvPr/>
        </p:nvSpPr>
        <p:spPr>
          <a:xfrm>
            <a:off x="9326880" y="4434840"/>
            <a:ext cx="777240" cy="182880"/>
          </a:xfrm>
          <a:prstGeom prst="rect">
            <a:avLst/>
          </a:prstGeom>
          <a:noFill/>
          <a:ln/>
        </p:spPr>
        <p:txBody>
          <a:bodyPr wrap="square" lIns="0" tIns="0" rIns="0" bIns="0" rtlCol="0" anchor="ctr"/>
          <a:lstStyle/>
          <a:p>
            <a:pPr indent="0" marL="0">
              <a:buNone/>
            </a:pPr>
            <a:r>
              <a:rPr lang="en-US" sz="1050" b="1" dirty="0">
                <a:solidFill>
                  <a:srgbClr val="0F2D52"/>
                </a:solidFill>
                <a:latin typeface="Aptos" pitchFamily="34" charset="0"/>
                <a:ea typeface="Aptos" pitchFamily="34" charset="-122"/>
                <a:cs typeface="Aptos" pitchFamily="34" charset="-120"/>
              </a:rPr>
              <a:t>Android</a:t>
            </a:r>
            <a:endParaRPr lang="en-US" sz="1050" dirty="0"/>
          </a:p>
        </p:txBody>
      </p:sp>
      <p:sp>
        <p:nvSpPr>
          <p:cNvPr id="81" name="Text 79"/>
          <p:cNvSpPr/>
          <p:nvPr/>
        </p:nvSpPr>
        <p:spPr>
          <a:xfrm>
            <a:off x="10104120" y="4434840"/>
            <a:ext cx="1005840" cy="182880"/>
          </a:xfrm>
          <a:prstGeom prst="rect">
            <a:avLst/>
          </a:prstGeom>
          <a:noFill/>
          <a:ln/>
        </p:spPr>
        <p:txBody>
          <a:bodyPr wrap="square" lIns="0" tIns="0" rIns="0" bIns="0" rtlCol="0" anchor="ctr"/>
          <a:lstStyle/>
          <a:p>
            <a:pPr indent="0" marL="0">
              <a:buNone/>
            </a:pPr>
            <a:r>
              <a:rPr lang="en-US" sz="900" dirty="0">
                <a:solidFill>
                  <a:srgbClr val="6B7280"/>
                </a:solidFill>
                <a:latin typeface="Aptos" pitchFamily="34" charset="0"/>
                <a:ea typeface="Aptos" pitchFamily="34" charset="-122"/>
                <a:cs typeface="Aptos" pitchFamily="34" charset="-120"/>
              </a:rPr>
              <a:t>Mobile app</a:t>
            </a:r>
            <a:endParaRPr lang="en-US" sz="900" dirty="0"/>
          </a:p>
        </p:txBody>
      </p:sp>
      <p:sp>
        <p:nvSpPr>
          <p:cNvPr id="82" name="Text 80"/>
          <p:cNvSpPr/>
          <p:nvPr/>
        </p:nvSpPr>
        <p:spPr>
          <a:xfrm>
            <a:off x="548640" y="5669280"/>
            <a:ext cx="7498080" cy="228600"/>
          </a:xfrm>
          <a:prstGeom prst="rect">
            <a:avLst/>
          </a:prstGeom>
          <a:noFill/>
          <a:ln/>
        </p:spPr>
        <p:txBody>
          <a:bodyPr wrap="square" lIns="0" tIns="0" rIns="0" bIns="0" rtlCol="0" anchor="ctr"/>
          <a:lstStyle/>
          <a:p>
            <a:pPr indent="0" marL="0">
              <a:buNone/>
            </a:pPr>
            <a:r>
              <a:rPr lang="en-US" sz="850" dirty="0">
                <a:solidFill>
                  <a:srgbClr val="6B7280"/>
                </a:solidFill>
                <a:latin typeface="Aptos" pitchFamily="34" charset="0"/>
                <a:ea typeface="Aptos" pitchFamily="34" charset="-122"/>
                <a:cs typeface="Aptos" pitchFamily="34" charset="-120"/>
              </a:rPr>
              <a:t>Note: Feature limits vary by plan, region, workspace settings, and account capabilities.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ANALYST PRODUCTIVITY MODEL</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Where ChatGPT Fits in the Analytics Workflow</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04</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789920" cy="320040"/>
          </a:xfrm>
          <a:prstGeom prst="rect">
            <a:avLst/>
          </a:prstGeom>
          <a:noFill/>
          <a:ln/>
        </p:spPr>
        <p:txBody>
          <a:bodyPr wrap="square" lIns="0" tIns="0" rIns="0" bIns="0" rtlCol="0" anchor="ctr"/>
          <a:lstStyle/>
          <a:p>
            <a:pPr indent="0" marL="0">
              <a:buNone/>
            </a:pPr>
            <a:r>
              <a:rPr lang="en-US" sz="1500" dirty="0">
                <a:solidFill>
                  <a:srgbClr val="111827"/>
                </a:solidFill>
                <a:latin typeface="Aptos" pitchFamily="34" charset="0"/>
                <a:ea typeface="Aptos" pitchFamily="34" charset="-122"/>
                <a:cs typeface="Aptos" pitchFamily="34" charset="-120"/>
              </a:rPr>
              <a:t>ChatGPT supports the full analytics lifecycle—from business question to insight communication.</a:t>
            </a:r>
            <a:endParaRPr lang="en-US" sz="1500" dirty="0"/>
          </a:p>
        </p:txBody>
      </p:sp>
      <p:sp>
        <p:nvSpPr>
          <p:cNvPr id="9" name="Shape 7"/>
          <p:cNvSpPr/>
          <p:nvPr/>
        </p:nvSpPr>
        <p:spPr>
          <a:xfrm>
            <a:off x="594360" y="1828800"/>
            <a:ext cx="1874520" cy="1508760"/>
          </a:xfrm>
          <a:prstGeom prst="roundRect">
            <a:avLst>
              <a:gd name="adj" fmla="val 4848"/>
            </a:avLst>
          </a:prstGeom>
          <a:solidFill>
            <a:srgbClr val="F5FAFF"/>
          </a:solidFill>
          <a:ln w="9525">
            <a:solidFill>
              <a:srgbClr val="D6E4F2"/>
            </a:solidFill>
            <a:prstDash val="solid"/>
          </a:ln>
        </p:spPr>
      </p:sp>
      <p:sp>
        <p:nvSpPr>
          <p:cNvPr id="10" name="Shape 8"/>
          <p:cNvSpPr/>
          <p:nvPr/>
        </p:nvSpPr>
        <p:spPr>
          <a:xfrm>
            <a:off x="731520" y="1993392"/>
            <a:ext cx="384048" cy="384048"/>
          </a:xfrm>
          <a:prstGeom prst="ellipse">
            <a:avLst/>
          </a:prstGeom>
          <a:solidFill>
            <a:srgbClr val="005A9C"/>
          </a:solidFill>
          <a:ln w="12700">
            <a:solidFill>
              <a:srgbClr val="005A9C"/>
            </a:solidFill>
            <a:prstDash val="solid"/>
          </a:ln>
        </p:spPr>
      </p:sp>
      <p:sp>
        <p:nvSpPr>
          <p:cNvPr id="11" name="Text 9"/>
          <p:cNvSpPr/>
          <p:nvPr/>
        </p:nvSpPr>
        <p:spPr>
          <a:xfrm>
            <a:off x="845820" y="2075688"/>
            <a:ext cx="164592" cy="91440"/>
          </a:xfrm>
          <a:prstGeom prst="rect">
            <a:avLst/>
          </a:prstGeom>
          <a:noFill/>
          <a:ln/>
        </p:spPr>
        <p:txBody>
          <a:bodyPr wrap="square" lIns="0" tIns="0" rIns="0" bIns="0" rtlCol="0" anchor="ctr"/>
          <a:lstStyle/>
          <a:p>
            <a:pPr indent="0" marL="0">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12" name="Text 10"/>
          <p:cNvSpPr/>
          <p:nvPr/>
        </p:nvSpPr>
        <p:spPr>
          <a:xfrm>
            <a:off x="1216152" y="1993392"/>
            <a:ext cx="1143000" cy="256032"/>
          </a:xfrm>
          <a:prstGeom prst="rect">
            <a:avLst/>
          </a:prstGeom>
          <a:noFill/>
          <a:ln/>
        </p:spPr>
        <p:txBody>
          <a:bodyPr wrap="square" lIns="0" tIns="0" rIns="0" bIns="0" rtlCol="0" anchor="ctr">
            <a:normAutofit/>
          </a:bodyPr>
          <a:lstStyle/>
          <a:p>
            <a:pPr indent="0" marL="0">
              <a:buNone/>
            </a:pPr>
            <a:r>
              <a:rPr lang="en-US" sz="1300" b="1" dirty="0">
                <a:solidFill>
                  <a:srgbClr val="0F2D52"/>
                </a:solidFill>
                <a:latin typeface="Aptos Display" pitchFamily="34" charset="0"/>
                <a:ea typeface="Aptos Display" pitchFamily="34" charset="-122"/>
                <a:cs typeface="Aptos Display" pitchFamily="34" charset="-120"/>
              </a:rPr>
              <a:t>Frame question</a:t>
            </a:r>
            <a:endParaRPr lang="en-US" sz="1300" dirty="0"/>
          </a:p>
        </p:txBody>
      </p:sp>
      <p:sp>
        <p:nvSpPr>
          <p:cNvPr id="13" name="Text 11"/>
          <p:cNvSpPr/>
          <p:nvPr/>
        </p:nvSpPr>
        <p:spPr>
          <a:xfrm>
            <a:off x="795528" y="2615184"/>
            <a:ext cx="1645920" cy="365760"/>
          </a:xfrm>
          <a:prstGeom prst="rect">
            <a:avLst/>
          </a:prstGeom>
          <a:noFill/>
          <a:ln/>
        </p:spPr>
        <p:txBody>
          <a:bodyPr wrap="square" lIns="254" tIns="254" rIns="254" bIns="254"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Define objective and decision</a:t>
            </a:r>
            <a:endParaRPr lang="en-US" sz="950" dirty="0"/>
          </a:p>
        </p:txBody>
      </p:sp>
      <p:sp>
        <p:nvSpPr>
          <p:cNvPr id="14" name="Shape 12"/>
          <p:cNvSpPr/>
          <p:nvPr/>
        </p:nvSpPr>
        <p:spPr>
          <a:xfrm>
            <a:off x="2569464" y="2350008"/>
            <a:ext cx="256032" cy="384048"/>
          </a:xfrm>
          <a:prstGeom prst="chevron">
            <a:avLst/>
          </a:prstGeom>
          <a:solidFill>
            <a:srgbClr val="CFE7FF"/>
          </a:solidFill>
          <a:ln w="12700">
            <a:solidFill>
              <a:srgbClr val="CFE7FF"/>
            </a:solidFill>
            <a:prstDash val="solid"/>
          </a:ln>
        </p:spPr>
      </p:sp>
      <p:sp>
        <p:nvSpPr>
          <p:cNvPr id="15" name="Shape 13"/>
          <p:cNvSpPr/>
          <p:nvPr/>
        </p:nvSpPr>
        <p:spPr>
          <a:xfrm>
            <a:off x="2898648" y="1828800"/>
            <a:ext cx="1874520" cy="1508760"/>
          </a:xfrm>
          <a:prstGeom prst="roundRect">
            <a:avLst>
              <a:gd name="adj" fmla="val 4848"/>
            </a:avLst>
          </a:prstGeom>
          <a:solidFill>
            <a:srgbClr val="FFFFFF"/>
          </a:solidFill>
          <a:ln w="9525">
            <a:solidFill>
              <a:srgbClr val="D6E4F2"/>
            </a:solidFill>
            <a:prstDash val="solid"/>
          </a:ln>
        </p:spPr>
      </p:sp>
      <p:sp>
        <p:nvSpPr>
          <p:cNvPr id="16" name="Shape 14"/>
          <p:cNvSpPr/>
          <p:nvPr/>
        </p:nvSpPr>
        <p:spPr>
          <a:xfrm>
            <a:off x="3035808" y="1993392"/>
            <a:ext cx="384048" cy="384048"/>
          </a:xfrm>
          <a:prstGeom prst="ellipse">
            <a:avLst/>
          </a:prstGeom>
          <a:solidFill>
            <a:srgbClr val="005A9C"/>
          </a:solidFill>
          <a:ln w="12700">
            <a:solidFill>
              <a:srgbClr val="005A9C"/>
            </a:solidFill>
            <a:prstDash val="solid"/>
          </a:ln>
        </p:spPr>
      </p:sp>
      <p:sp>
        <p:nvSpPr>
          <p:cNvPr id="17" name="Text 15"/>
          <p:cNvSpPr/>
          <p:nvPr/>
        </p:nvSpPr>
        <p:spPr>
          <a:xfrm>
            <a:off x="3150108" y="2075688"/>
            <a:ext cx="164592" cy="91440"/>
          </a:xfrm>
          <a:prstGeom prst="rect">
            <a:avLst/>
          </a:prstGeom>
          <a:noFill/>
          <a:ln/>
        </p:spPr>
        <p:txBody>
          <a:bodyPr wrap="square" lIns="0" tIns="0" rIns="0" bIns="0" rtlCol="0" anchor="ctr"/>
          <a:lstStyle/>
          <a:p>
            <a:pPr indent="0" marL="0">
              <a:buNone/>
            </a:pPr>
            <a:r>
              <a:rPr lang="en-US" sz="800" b="1" dirty="0">
                <a:solidFill>
                  <a:srgbClr val="FFFFFF"/>
                </a:solidFill>
                <a:latin typeface="Aptos" pitchFamily="34" charset="0"/>
                <a:ea typeface="Aptos" pitchFamily="34" charset="-122"/>
                <a:cs typeface="Aptos" pitchFamily="34" charset="-120"/>
              </a:rPr>
              <a:t>2</a:t>
            </a:r>
            <a:endParaRPr lang="en-US" sz="800" dirty="0"/>
          </a:p>
        </p:txBody>
      </p:sp>
      <p:sp>
        <p:nvSpPr>
          <p:cNvPr id="18" name="Text 16"/>
          <p:cNvSpPr/>
          <p:nvPr/>
        </p:nvSpPr>
        <p:spPr>
          <a:xfrm>
            <a:off x="3520440" y="1993392"/>
            <a:ext cx="1143000" cy="256032"/>
          </a:xfrm>
          <a:prstGeom prst="rect">
            <a:avLst/>
          </a:prstGeom>
          <a:noFill/>
          <a:ln/>
        </p:spPr>
        <p:txBody>
          <a:bodyPr wrap="square" lIns="0" tIns="0" rIns="0" bIns="0" rtlCol="0" anchor="ctr">
            <a:normAutofit/>
          </a:bodyPr>
          <a:lstStyle/>
          <a:p>
            <a:pPr indent="0" marL="0">
              <a:buNone/>
            </a:pPr>
            <a:r>
              <a:rPr lang="en-US" sz="1300" b="1" dirty="0">
                <a:solidFill>
                  <a:srgbClr val="0F2D52"/>
                </a:solidFill>
                <a:latin typeface="Aptos Display" pitchFamily="34" charset="0"/>
                <a:ea typeface="Aptos Display" pitchFamily="34" charset="-122"/>
                <a:cs typeface="Aptos Display" pitchFamily="34" charset="-120"/>
              </a:rPr>
              <a:t>Prepare data</a:t>
            </a:r>
            <a:endParaRPr lang="en-US" sz="1300" dirty="0"/>
          </a:p>
        </p:txBody>
      </p:sp>
      <p:sp>
        <p:nvSpPr>
          <p:cNvPr id="19" name="Text 17"/>
          <p:cNvSpPr/>
          <p:nvPr/>
        </p:nvSpPr>
        <p:spPr>
          <a:xfrm>
            <a:off x="3099816" y="2615184"/>
            <a:ext cx="1645920" cy="365760"/>
          </a:xfrm>
          <a:prstGeom prst="rect">
            <a:avLst/>
          </a:prstGeom>
          <a:noFill/>
          <a:ln/>
        </p:spPr>
        <p:txBody>
          <a:bodyPr wrap="square" lIns="254" tIns="254" rIns="254" bIns="254"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Clean, merge, transform</a:t>
            </a:r>
            <a:endParaRPr lang="en-US" sz="950" dirty="0"/>
          </a:p>
        </p:txBody>
      </p:sp>
      <p:sp>
        <p:nvSpPr>
          <p:cNvPr id="20" name="Shape 18"/>
          <p:cNvSpPr/>
          <p:nvPr/>
        </p:nvSpPr>
        <p:spPr>
          <a:xfrm>
            <a:off x="4873752" y="2350008"/>
            <a:ext cx="256032" cy="384048"/>
          </a:xfrm>
          <a:prstGeom prst="chevron">
            <a:avLst/>
          </a:prstGeom>
          <a:solidFill>
            <a:srgbClr val="CFE7FF"/>
          </a:solidFill>
          <a:ln w="12700">
            <a:solidFill>
              <a:srgbClr val="CFE7FF"/>
            </a:solidFill>
            <a:prstDash val="solid"/>
          </a:ln>
        </p:spPr>
      </p:sp>
      <p:sp>
        <p:nvSpPr>
          <p:cNvPr id="21" name="Shape 19"/>
          <p:cNvSpPr/>
          <p:nvPr/>
        </p:nvSpPr>
        <p:spPr>
          <a:xfrm>
            <a:off x="5202936" y="1828800"/>
            <a:ext cx="1874520" cy="1508760"/>
          </a:xfrm>
          <a:prstGeom prst="roundRect">
            <a:avLst>
              <a:gd name="adj" fmla="val 4848"/>
            </a:avLst>
          </a:prstGeom>
          <a:solidFill>
            <a:srgbClr val="F5FAFF"/>
          </a:solidFill>
          <a:ln w="9525">
            <a:solidFill>
              <a:srgbClr val="D6E4F2"/>
            </a:solidFill>
            <a:prstDash val="solid"/>
          </a:ln>
        </p:spPr>
      </p:sp>
      <p:sp>
        <p:nvSpPr>
          <p:cNvPr id="22" name="Shape 20"/>
          <p:cNvSpPr/>
          <p:nvPr/>
        </p:nvSpPr>
        <p:spPr>
          <a:xfrm>
            <a:off x="5340096" y="1993392"/>
            <a:ext cx="384048" cy="384048"/>
          </a:xfrm>
          <a:prstGeom prst="ellipse">
            <a:avLst/>
          </a:prstGeom>
          <a:solidFill>
            <a:srgbClr val="005A9C"/>
          </a:solidFill>
          <a:ln w="12700">
            <a:solidFill>
              <a:srgbClr val="005A9C"/>
            </a:solidFill>
            <a:prstDash val="solid"/>
          </a:ln>
        </p:spPr>
      </p:sp>
      <p:sp>
        <p:nvSpPr>
          <p:cNvPr id="23" name="Text 21"/>
          <p:cNvSpPr/>
          <p:nvPr/>
        </p:nvSpPr>
        <p:spPr>
          <a:xfrm>
            <a:off x="5454396" y="2075688"/>
            <a:ext cx="164592" cy="91440"/>
          </a:xfrm>
          <a:prstGeom prst="rect">
            <a:avLst/>
          </a:prstGeom>
          <a:noFill/>
          <a:ln/>
        </p:spPr>
        <p:txBody>
          <a:bodyPr wrap="square" lIns="0" tIns="0" rIns="0" bIns="0" rtlCol="0" anchor="ctr"/>
          <a:lstStyle/>
          <a:p>
            <a:pPr indent="0" marL="0">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24" name="Text 22"/>
          <p:cNvSpPr/>
          <p:nvPr/>
        </p:nvSpPr>
        <p:spPr>
          <a:xfrm>
            <a:off x="5824728" y="1993392"/>
            <a:ext cx="1143000" cy="256032"/>
          </a:xfrm>
          <a:prstGeom prst="rect">
            <a:avLst/>
          </a:prstGeom>
          <a:noFill/>
          <a:ln/>
        </p:spPr>
        <p:txBody>
          <a:bodyPr wrap="square" lIns="0" tIns="0" rIns="0" bIns="0" rtlCol="0" anchor="ctr">
            <a:normAutofit/>
          </a:bodyPr>
          <a:lstStyle/>
          <a:p>
            <a:pPr indent="0" marL="0">
              <a:buNone/>
            </a:pPr>
            <a:r>
              <a:rPr lang="en-US" sz="1300" b="1" dirty="0">
                <a:solidFill>
                  <a:srgbClr val="0F2D52"/>
                </a:solidFill>
                <a:latin typeface="Aptos Display" pitchFamily="34" charset="0"/>
                <a:ea typeface="Aptos Display" pitchFamily="34" charset="-122"/>
                <a:cs typeface="Aptos Display" pitchFamily="34" charset="-120"/>
              </a:rPr>
              <a:t>Analyze</a:t>
            </a:r>
            <a:endParaRPr lang="en-US" sz="1300" dirty="0"/>
          </a:p>
        </p:txBody>
      </p:sp>
      <p:sp>
        <p:nvSpPr>
          <p:cNvPr id="25" name="Text 23"/>
          <p:cNvSpPr/>
          <p:nvPr/>
        </p:nvSpPr>
        <p:spPr>
          <a:xfrm>
            <a:off x="5404104" y="2615184"/>
            <a:ext cx="1645920" cy="365760"/>
          </a:xfrm>
          <a:prstGeom prst="rect">
            <a:avLst/>
          </a:prstGeom>
          <a:noFill/>
          <a:ln/>
        </p:spPr>
        <p:txBody>
          <a:bodyPr wrap="square" lIns="254" tIns="254" rIns="254" bIns="254"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EDA, formulas, SQL, Python</a:t>
            </a:r>
            <a:endParaRPr lang="en-US" sz="950" dirty="0"/>
          </a:p>
        </p:txBody>
      </p:sp>
      <p:sp>
        <p:nvSpPr>
          <p:cNvPr id="26" name="Shape 24"/>
          <p:cNvSpPr/>
          <p:nvPr/>
        </p:nvSpPr>
        <p:spPr>
          <a:xfrm>
            <a:off x="7178040" y="2350008"/>
            <a:ext cx="256032" cy="384048"/>
          </a:xfrm>
          <a:prstGeom prst="chevron">
            <a:avLst/>
          </a:prstGeom>
          <a:solidFill>
            <a:srgbClr val="CFE7FF"/>
          </a:solidFill>
          <a:ln w="12700">
            <a:solidFill>
              <a:srgbClr val="CFE7FF"/>
            </a:solidFill>
            <a:prstDash val="solid"/>
          </a:ln>
        </p:spPr>
      </p:sp>
      <p:sp>
        <p:nvSpPr>
          <p:cNvPr id="27" name="Shape 25"/>
          <p:cNvSpPr/>
          <p:nvPr/>
        </p:nvSpPr>
        <p:spPr>
          <a:xfrm>
            <a:off x="7507224" y="1828800"/>
            <a:ext cx="1874520" cy="1508760"/>
          </a:xfrm>
          <a:prstGeom prst="roundRect">
            <a:avLst>
              <a:gd name="adj" fmla="val 4848"/>
            </a:avLst>
          </a:prstGeom>
          <a:solidFill>
            <a:srgbClr val="FFFFFF"/>
          </a:solidFill>
          <a:ln w="9525">
            <a:solidFill>
              <a:srgbClr val="D6E4F2"/>
            </a:solidFill>
            <a:prstDash val="solid"/>
          </a:ln>
        </p:spPr>
      </p:sp>
      <p:sp>
        <p:nvSpPr>
          <p:cNvPr id="28" name="Shape 26"/>
          <p:cNvSpPr/>
          <p:nvPr/>
        </p:nvSpPr>
        <p:spPr>
          <a:xfrm>
            <a:off x="7644384" y="1993392"/>
            <a:ext cx="384048" cy="384048"/>
          </a:xfrm>
          <a:prstGeom prst="ellipse">
            <a:avLst/>
          </a:prstGeom>
          <a:solidFill>
            <a:srgbClr val="005A9C"/>
          </a:solidFill>
          <a:ln w="12700">
            <a:solidFill>
              <a:srgbClr val="005A9C"/>
            </a:solidFill>
            <a:prstDash val="solid"/>
          </a:ln>
        </p:spPr>
      </p:sp>
      <p:sp>
        <p:nvSpPr>
          <p:cNvPr id="29" name="Text 27"/>
          <p:cNvSpPr/>
          <p:nvPr/>
        </p:nvSpPr>
        <p:spPr>
          <a:xfrm>
            <a:off x="7758684" y="2075688"/>
            <a:ext cx="164592" cy="91440"/>
          </a:xfrm>
          <a:prstGeom prst="rect">
            <a:avLst/>
          </a:prstGeom>
          <a:noFill/>
          <a:ln/>
        </p:spPr>
        <p:txBody>
          <a:bodyPr wrap="square" lIns="0" tIns="0" rIns="0" bIns="0" rtlCol="0" anchor="ctr"/>
          <a:lstStyle/>
          <a:p>
            <a:pPr indent="0" marL="0">
              <a:buNone/>
            </a:pPr>
            <a:r>
              <a:rPr lang="en-US" sz="800" b="1" dirty="0">
                <a:solidFill>
                  <a:srgbClr val="FFFFFF"/>
                </a:solidFill>
                <a:latin typeface="Aptos" pitchFamily="34" charset="0"/>
                <a:ea typeface="Aptos" pitchFamily="34" charset="-122"/>
                <a:cs typeface="Aptos" pitchFamily="34" charset="-120"/>
              </a:rPr>
              <a:t>4</a:t>
            </a:r>
            <a:endParaRPr lang="en-US" sz="800" dirty="0"/>
          </a:p>
        </p:txBody>
      </p:sp>
      <p:sp>
        <p:nvSpPr>
          <p:cNvPr id="30" name="Text 28"/>
          <p:cNvSpPr/>
          <p:nvPr/>
        </p:nvSpPr>
        <p:spPr>
          <a:xfrm>
            <a:off x="8129016" y="1993392"/>
            <a:ext cx="1143000" cy="256032"/>
          </a:xfrm>
          <a:prstGeom prst="rect">
            <a:avLst/>
          </a:prstGeom>
          <a:noFill/>
          <a:ln/>
        </p:spPr>
        <p:txBody>
          <a:bodyPr wrap="square" lIns="0" tIns="0" rIns="0" bIns="0" rtlCol="0" anchor="ctr">
            <a:normAutofit/>
          </a:bodyPr>
          <a:lstStyle/>
          <a:p>
            <a:pPr indent="0" marL="0">
              <a:buNone/>
            </a:pPr>
            <a:r>
              <a:rPr lang="en-US" sz="1300" b="1" dirty="0">
                <a:solidFill>
                  <a:srgbClr val="0F2D52"/>
                </a:solidFill>
                <a:latin typeface="Aptos Display" pitchFamily="34" charset="0"/>
                <a:ea typeface="Aptos Display" pitchFamily="34" charset="-122"/>
                <a:cs typeface="Aptos Display" pitchFamily="34" charset="-120"/>
              </a:rPr>
              <a:t>Visualize</a:t>
            </a:r>
            <a:endParaRPr lang="en-US" sz="1300" dirty="0"/>
          </a:p>
        </p:txBody>
      </p:sp>
      <p:sp>
        <p:nvSpPr>
          <p:cNvPr id="31" name="Text 29"/>
          <p:cNvSpPr/>
          <p:nvPr/>
        </p:nvSpPr>
        <p:spPr>
          <a:xfrm>
            <a:off x="7708392" y="2615184"/>
            <a:ext cx="1645920" cy="365760"/>
          </a:xfrm>
          <a:prstGeom prst="rect">
            <a:avLst/>
          </a:prstGeom>
          <a:noFill/>
          <a:ln/>
        </p:spPr>
        <p:txBody>
          <a:bodyPr wrap="square" lIns="254" tIns="254" rIns="254" bIns="254"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Charts and interpretation</a:t>
            </a:r>
            <a:endParaRPr lang="en-US" sz="950" dirty="0"/>
          </a:p>
        </p:txBody>
      </p:sp>
      <p:sp>
        <p:nvSpPr>
          <p:cNvPr id="32" name="Shape 30"/>
          <p:cNvSpPr/>
          <p:nvPr/>
        </p:nvSpPr>
        <p:spPr>
          <a:xfrm>
            <a:off x="9482328" y="2350008"/>
            <a:ext cx="256032" cy="384048"/>
          </a:xfrm>
          <a:prstGeom prst="chevron">
            <a:avLst/>
          </a:prstGeom>
          <a:solidFill>
            <a:srgbClr val="CFE7FF"/>
          </a:solidFill>
          <a:ln w="12700">
            <a:solidFill>
              <a:srgbClr val="CFE7FF"/>
            </a:solidFill>
            <a:prstDash val="solid"/>
          </a:ln>
        </p:spPr>
      </p:sp>
      <p:sp>
        <p:nvSpPr>
          <p:cNvPr id="33" name="Shape 31"/>
          <p:cNvSpPr/>
          <p:nvPr/>
        </p:nvSpPr>
        <p:spPr>
          <a:xfrm>
            <a:off x="9811512" y="1828800"/>
            <a:ext cx="1874520" cy="1508760"/>
          </a:xfrm>
          <a:prstGeom prst="roundRect">
            <a:avLst>
              <a:gd name="adj" fmla="val 4848"/>
            </a:avLst>
          </a:prstGeom>
          <a:solidFill>
            <a:srgbClr val="F5FAFF"/>
          </a:solidFill>
          <a:ln w="9525">
            <a:solidFill>
              <a:srgbClr val="D6E4F2"/>
            </a:solidFill>
            <a:prstDash val="solid"/>
          </a:ln>
        </p:spPr>
      </p:sp>
      <p:sp>
        <p:nvSpPr>
          <p:cNvPr id="34" name="Shape 32"/>
          <p:cNvSpPr/>
          <p:nvPr/>
        </p:nvSpPr>
        <p:spPr>
          <a:xfrm>
            <a:off x="9948672" y="1993392"/>
            <a:ext cx="384048" cy="384048"/>
          </a:xfrm>
          <a:prstGeom prst="ellipse">
            <a:avLst/>
          </a:prstGeom>
          <a:solidFill>
            <a:srgbClr val="005A9C"/>
          </a:solidFill>
          <a:ln w="12700">
            <a:solidFill>
              <a:srgbClr val="005A9C"/>
            </a:solidFill>
            <a:prstDash val="solid"/>
          </a:ln>
        </p:spPr>
      </p:sp>
      <p:sp>
        <p:nvSpPr>
          <p:cNvPr id="35" name="Text 33"/>
          <p:cNvSpPr/>
          <p:nvPr/>
        </p:nvSpPr>
        <p:spPr>
          <a:xfrm>
            <a:off x="10062972" y="2075688"/>
            <a:ext cx="164592" cy="91440"/>
          </a:xfrm>
          <a:prstGeom prst="rect">
            <a:avLst/>
          </a:prstGeom>
          <a:noFill/>
          <a:ln/>
        </p:spPr>
        <p:txBody>
          <a:bodyPr wrap="square" lIns="0" tIns="0" rIns="0" bIns="0" rtlCol="0" anchor="ctr"/>
          <a:lstStyle/>
          <a:p>
            <a:pPr indent="0" marL="0">
              <a:buNone/>
            </a:pPr>
            <a:r>
              <a:rPr lang="en-US" sz="800" b="1" dirty="0">
                <a:solidFill>
                  <a:srgbClr val="FFFFFF"/>
                </a:solidFill>
                <a:latin typeface="Aptos" pitchFamily="34" charset="0"/>
                <a:ea typeface="Aptos" pitchFamily="34" charset="-122"/>
                <a:cs typeface="Aptos" pitchFamily="34" charset="-120"/>
              </a:rPr>
              <a:t>5</a:t>
            </a:r>
            <a:endParaRPr lang="en-US" sz="800" dirty="0"/>
          </a:p>
        </p:txBody>
      </p:sp>
      <p:sp>
        <p:nvSpPr>
          <p:cNvPr id="36" name="Text 34"/>
          <p:cNvSpPr/>
          <p:nvPr/>
        </p:nvSpPr>
        <p:spPr>
          <a:xfrm>
            <a:off x="10433304" y="1993392"/>
            <a:ext cx="1143000" cy="256032"/>
          </a:xfrm>
          <a:prstGeom prst="rect">
            <a:avLst/>
          </a:prstGeom>
          <a:noFill/>
          <a:ln/>
        </p:spPr>
        <p:txBody>
          <a:bodyPr wrap="square" lIns="0" tIns="0" rIns="0" bIns="0" rtlCol="0" anchor="ctr">
            <a:normAutofit/>
          </a:bodyPr>
          <a:lstStyle/>
          <a:p>
            <a:pPr indent="0" marL="0">
              <a:buNone/>
            </a:pPr>
            <a:r>
              <a:rPr lang="en-US" sz="1300" b="1" dirty="0">
                <a:solidFill>
                  <a:srgbClr val="0F2D52"/>
                </a:solidFill>
                <a:latin typeface="Aptos Display" pitchFamily="34" charset="0"/>
                <a:ea typeface="Aptos Display" pitchFamily="34" charset="-122"/>
                <a:cs typeface="Aptos Display" pitchFamily="34" charset="-120"/>
              </a:rPr>
              <a:t>Communicate</a:t>
            </a:r>
            <a:endParaRPr lang="en-US" sz="1300" dirty="0"/>
          </a:p>
        </p:txBody>
      </p:sp>
      <p:sp>
        <p:nvSpPr>
          <p:cNvPr id="37" name="Text 35"/>
          <p:cNvSpPr/>
          <p:nvPr/>
        </p:nvSpPr>
        <p:spPr>
          <a:xfrm>
            <a:off x="10012680" y="2615184"/>
            <a:ext cx="1645920" cy="365760"/>
          </a:xfrm>
          <a:prstGeom prst="rect">
            <a:avLst/>
          </a:prstGeom>
          <a:noFill/>
          <a:ln/>
        </p:spPr>
        <p:txBody>
          <a:bodyPr wrap="square" lIns="254" tIns="254" rIns="254" bIns="254" rtlCol="0" anchor="ctr">
            <a:normAutofit/>
          </a:bodyPr>
          <a:lstStyle/>
          <a:p>
            <a:pPr algn="ctr" indent="0" marL="0">
              <a:buNone/>
            </a:pPr>
            <a:r>
              <a:rPr lang="en-US" sz="950" dirty="0">
                <a:solidFill>
                  <a:srgbClr val="111827"/>
                </a:solidFill>
                <a:latin typeface="Aptos" pitchFamily="34" charset="0"/>
                <a:ea typeface="Aptos" pitchFamily="34" charset="-122"/>
                <a:cs typeface="Aptos" pitchFamily="34" charset="-120"/>
              </a:rPr>
              <a:t>Executive summary and report</a:t>
            </a:r>
            <a:endParaRPr lang="en-US" sz="950" dirty="0"/>
          </a:p>
        </p:txBody>
      </p:sp>
      <p:sp>
        <p:nvSpPr>
          <p:cNvPr id="38" name="Shape 36"/>
          <p:cNvSpPr/>
          <p:nvPr/>
        </p:nvSpPr>
        <p:spPr>
          <a:xfrm>
            <a:off x="777240" y="4114800"/>
            <a:ext cx="5074920" cy="1234440"/>
          </a:xfrm>
          <a:prstGeom prst="roundRect">
            <a:avLst>
              <a:gd name="adj" fmla="val 5926"/>
            </a:avLst>
          </a:prstGeom>
          <a:solidFill>
            <a:srgbClr val="FFFFFF"/>
          </a:solidFill>
          <a:ln w="9525">
            <a:solidFill>
              <a:srgbClr val="D6E4F2"/>
            </a:solidFill>
            <a:prstDash val="solid"/>
          </a:ln>
        </p:spPr>
      </p:sp>
      <p:sp>
        <p:nvSpPr>
          <p:cNvPr id="39" name="Text 37"/>
          <p:cNvSpPr/>
          <p:nvPr/>
        </p:nvSpPr>
        <p:spPr>
          <a:xfrm>
            <a:off x="1051560" y="4370832"/>
            <a:ext cx="182880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Analyst value</a:t>
            </a:r>
            <a:endParaRPr lang="en-US" sz="1100" dirty="0"/>
          </a:p>
        </p:txBody>
      </p:sp>
      <p:sp>
        <p:nvSpPr>
          <p:cNvPr id="40" name="Text 38"/>
          <p:cNvSpPr/>
          <p:nvPr/>
        </p:nvSpPr>
        <p:spPr>
          <a:xfrm>
            <a:off x="1051560" y="4690872"/>
            <a:ext cx="4251960" cy="411480"/>
          </a:xfrm>
          <a:prstGeom prst="rect">
            <a:avLst/>
          </a:prstGeom>
          <a:noFill/>
          <a:ln/>
        </p:spPr>
        <p:txBody>
          <a:bodyPr wrap="square" lIns="381" tIns="381" rIns="381" bIns="381" rtlCol="0" anchor="ctr">
            <a:normAutofit/>
          </a:bodyPr>
          <a:lstStyle/>
          <a:p>
            <a:pPr indent="0" marL="0">
              <a:buNone/>
            </a:pPr>
            <a:r>
              <a:rPr lang="en-US" sz="1250" dirty="0">
                <a:solidFill>
                  <a:srgbClr val="111827"/>
                </a:solidFill>
                <a:latin typeface="Aptos" pitchFamily="34" charset="0"/>
                <a:ea typeface="Aptos" pitchFamily="34" charset="-122"/>
                <a:cs typeface="Aptos" pitchFamily="34" charset="-120"/>
              </a:rPr>
              <a:t>Reduces routine effort and helps analysts focus on interpretation, validation, and decision quality.</a:t>
            </a:r>
            <a:endParaRPr lang="en-US" sz="1250" dirty="0"/>
          </a:p>
        </p:txBody>
      </p:sp>
      <p:sp>
        <p:nvSpPr>
          <p:cNvPr id="41" name="Shape 39"/>
          <p:cNvSpPr/>
          <p:nvPr/>
        </p:nvSpPr>
        <p:spPr>
          <a:xfrm>
            <a:off x="6309360" y="4114800"/>
            <a:ext cx="5074920" cy="1234440"/>
          </a:xfrm>
          <a:prstGeom prst="roundRect">
            <a:avLst>
              <a:gd name="adj" fmla="val 5926"/>
            </a:avLst>
          </a:prstGeom>
          <a:solidFill>
            <a:srgbClr val="EAF4FF"/>
          </a:solidFill>
          <a:ln w="9525">
            <a:solidFill>
              <a:srgbClr val="C6E4FF"/>
            </a:solidFill>
            <a:prstDash val="solid"/>
          </a:ln>
        </p:spPr>
      </p:sp>
      <p:sp>
        <p:nvSpPr>
          <p:cNvPr id="42" name="Text 40"/>
          <p:cNvSpPr/>
          <p:nvPr/>
        </p:nvSpPr>
        <p:spPr>
          <a:xfrm>
            <a:off x="6583680" y="4370832"/>
            <a:ext cx="182880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Control point</a:t>
            </a:r>
            <a:endParaRPr lang="en-US" sz="1100" dirty="0"/>
          </a:p>
        </p:txBody>
      </p:sp>
      <p:sp>
        <p:nvSpPr>
          <p:cNvPr id="43" name="Text 41"/>
          <p:cNvSpPr/>
          <p:nvPr/>
        </p:nvSpPr>
        <p:spPr>
          <a:xfrm>
            <a:off x="6583680" y="4690872"/>
            <a:ext cx="4251960" cy="411480"/>
          </a:xfrm>
          <a:prstGeom prst="rect">
            <a:avLst/>
          </a:prstGeom>
          <a:noFill/>
          <a:ln/>
        </p:spPr>
        <p:txBody>
          <a:bodyPr wrap="square" lIns="381" tIns="381" rIns="381" bIns="381" rtlCol="0" anchor="ctr">
            <a:normAutofit/>
          </a:bodyPr>
          <a:lstStyle/>
          <a:p>
            <a:pPr indent="0" marL="0">
              <a:buNone/>
            </a:pPr>
            <a:r>
              <a:rPr lang="en-US" sz="1250" dirty="0">
                <a:solidFill>
                  <a:srgbClr val="111827"/>
                </a:solidFill>
                <a:latin typeface="Aptos" pitchFamily="34" charset="0"/>
                <a:ea typeface="Aptos" pitchFamily="34" charset="-122"/>
                <a:cs typeface="Aptos" pitchFamily="34" charset="-120"/>
              </a:rPr>
              <a:t>Human analysts still validate data quality, assumptions, calculations, privacy, and business relevance.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CAPABILITY DEEP DIVE</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ChatGPT for Data Analysis</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05</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972800" cy="320040"/>
          </a:xfrm>
          <a:prstGeom prst="rect">
            <a:avLst/>
          </a:prstGeom>
          <a:noFill/>
          <a:ln/>
        </p:spPr>
        <p:txBody>
          <a:bodyPr wrap="square" lIns="0" tIns="0" rIns="0" bIns="0" rtlCol="0" anchor="ctr"/>
          <a:lstStyle/>
          <a:p>
            <a:pPr indent="0" marL="0">
              <a:buNone/>
            </a:pPr>
            <a:r>
              <a:rPr lang="en-US" sz="1450" dirty="0">
                <a:solidFill>
                  <a:srgbClr val="111827"/>
                </a:solidFill>
                <a:latin typeface="Aptos" pitchFamily="34" charset="0"/>
                <a:ea typeface="Aptos" pitchFamily="34" charset="-122"/>
                <a:cs typeface="Aptos" pitchFamily="34" charset="-120"/>
              </a:rPr>
              <a:t>ChatGPT can support structured data analysis, code generation, visualization, insight summarization, and report creation.</a:t>
            </a:r>
            <a:endParaRPr lang="en-US" sz="1450" dirty="0"/>
          </a:p>
        </p:txBody>
      </p:sp>
      <p:sp>
        <p:nvSpPr>
          <p:cNvPr id="9" name="Shape 7"/>
          <p:cNvSpPr/>
          <p:nvPr/>
        </p:nvSpPr>
        <p:spPr>
          <a:xfrm>
            <a:off x="502920" y="1508760"/>
            <a:ext cx="2057400" cy="541020"/>
          </a:xfrm>
          <a:prstGeom prst="rect">
            <a:avLst/>
          </a:prstGeom>
          <a:solidFill>
            <a:srgbClr val="005A9C"/>
          </a:solidFill>
          <a:ln w="6350">
            <a:solidFill>
              <a:srgbClr val="D8E3F0"/>
            </a:solidFill>
            <a:prstDash val="solid"/>
          </a:ln>
        </p:spPr>
      </p:sp>
      <p:sp>
        <p:nvSpPr>
          <p:cNvPr id="10" name="Text 8"/>
          <p:cNvSpPr/>
          <p:nvPr/>
        </p:nvSpPr>
        <p:spPr>
          <a:xfrm>
            <a:off x="539496" y="1540764"/>
            <a:ext cx="1984248" cy="477012"/>
          </a:xfrm>
          <a:prstGeom prst="rect">
            <a:avLst/>
          </a:prstGeom>
          <a:noFill/>
          <a:ln/>
        </p:spPr>
        <p:txBody>
          <a:bodyPr wrap="square" lIns="127" tIns="127" rIns="127" bIns="127"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Data-analysis question</a:t>
            </a:r>
            <a:endParaRPr lang="en-US" sz="760" dirty="0"/>
          </a:p>
        </p:txBody>
      </p:sp>
      <p:sp>
        <p:nvSpPr>
          <p:cNvPr id="11" name="Shape 9"/>
          <p:cNvSpPr/>
          <p:nvPr/>
        </p:nvSpPr>
        <p:spPr>
          <a:xfrm>
            <a:off x="2560320" y="1508760"/>
            <a:ext cx="4663440" cy="541020"/>
          </a:xfrm>
          <a:prstGeom prst="rect">
            <a:avLst/>
          </a:prstGeom>
          <a:solidFill>
            <a:srgbClr val="005A9C"/>
          </a:solidFill>
          <a:ln w="6350">
            <a:solidFill>
              <a:srgbClr val="D8E3F0"/>
            </a:solidFill>
            <a:prstDash val="solid"/>
          </a:ln>
        </p:spPr>
      </p:sp>
      <p:sp>
        <p:nvSpPr>
          <p:cNvPr id="12" name="Text 10"/>
          <p:cNvSpPr/>
          <p:nvPr/>
        </p:nvSpPr>
        <p:spPr>
          <a:xfrm>
            <a:off x="2596896" y="1540764"/>
            <a:ext cx="4590288" cy="477012"/>
          </a:xfrm>
          <a:prstGeom prst="rect">
            <a:avLst/>
          </a:prstGeom>
          <a:noFill/>
          <a:ln/>
        </p:spPr>
        <p:txBody>
          <a:bodyPr wrap="square" lIns="127" tIns="127" rIns="127" bIns="127"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ChatGPT support</a:t>
            </a:r>
            <a:endParaRPr lang="en-US" sz="760" dirty="0"/>
          </a:p>
        </p:txBody>
      </p:sp>
      <p:sp>
        <p:nvSpPr>
          <p:cNvPr id="13" name="Shape 11"/>
          <p:cNvSpPr/>
          <p:nvPr/>
        </p:nvSpPr>
        <p:spPr>
          <a:xfrm>
            <a:off x="7223760" y="1508760"/>
            <a:ext cx="4434840" cy="541020"/>
          </a:xfrm>
          <a:prstGeom prst="rect">
            <a:avLst/>
          </a:prstGeom>
          <a:solidFill>
            <a:srgbClr val="005A9C"/>
          </a:solidFill>
          <a:ln w="6350">
            <a:solidFill>
              <a:srgbClr val="D8E3F0"/>
            </a:solidFill>
            <a:prstDash val="solid"/>
          </a:ln>
        </p:spPr>
      </p:sp>
      <p:sp>
        <p:nvSpPr>
          <p:cNvPr id="14" name="Text 12"/>
          <p:cNvSpPr/>
          <p:nvPr/>
        </p:nvSpPr>
        <p:spPr>
          <a:xfrm>
            <a:off x="7260336" y="1540764"/>
            <a:ext cx="4361688" cy="477012"/>
          </a:xfrm>
          <a:prstGeom prst="rect">
            <a:avLst/>
          </a:prstGeom>
          <a:noFill/>
          <a:ln/>
        </p:spPr>
        <p:txBody>
          <a:bodyPr wrap="square" lIns="127" tIns="127" rIns="127" bIns="127"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Analyst caution</a:t>
            </a:r>
            <a:endParaRPr lang="en-US" sz="760" dirty="0"/>
          </a:p>
        </p:txBody>
      </p:sp>
      <p:sp>
        <p:nvSpPr>
          <p:cNvPr id="15" name="Shape 13"/>
          <p:cNvSpPr/>
          <p:nvPr/>
        </p:nvSpPr>
        <p:spPr>
          <a:xfrm>
            <a:off x="502920" y="2049780"/>
            <a:ext cx="2057400" cy="541020"/>
          </a:xfrm>
          <a:prstGeom prst="rect">
            <a:avLst/>
          </a:prstGeom>
          <a:solidFill>
            <a:srgbClr val="F7FBFF"/>
          </a:solidFill>
          <a:ln w="6350">
            <a:solidFill>
              <a:srgbClr val="D8E3F0"/>
            </a:solidFill>
            <a:prstDash val="solid"/>
          </a:ln>
        </p:spPr>
      </p:sp>
      <p:sp>
        <p:nvSpPr>
          <p:cNvPr id="16" name="Text 14"/>
          <p:cNvSpPr/>
          <p:nvPr/>
        </p:nvSpPr>
        <p:spPr>
          <a:xfrm>
            <a:off x="539496" y="2081784"/>
            <a:ext cx="198424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Can it analyze Excel/CSV?</a:t>
            </a:r>
            <a:endParaRPr lang="en-US" sz="760" dirty="0"/>
          </a:p>
        </p:txBody>
      </p:sp>
      <p:sp>
        <p:nvSpPr>
          <p:cNvPr id="17" name="Shape 15"/>
          <p:cNvSpPr/>
          <p:nvPr/>
        </p:nvSpPr>
        <p:spPr>
          <a:xfrm>
            <a:off x="2560320" y="2049780"/>
            <a:ext cx="4663440" cy="541020"/>
          </a:xfrm>
          <a:prstGeom prst="rect">
            <a:avLst/>
          </a:prstGeom>
          <a:solidFill>
            <a:srgbClr val="F7FBFF"/>
          </a:solidFill>
          <a:ln w="6350">
            <a:solidFill>
              <a:srgbClr val="D8E3F0"/>
            </a:solidFill>
            <a:prstDash val="solid"/>
          </a:ln>
        </p:spPr>
      </p:sp>
      <p:sp>
        <p:nvSpPr>
          <p:cNvPr id="18" name="Text 16"/>
          <p:cNvSpPr/>
          <p:nvPr/>
        </p:nvSpPr>
        <p:spPr>
          <a:xfrm>
            <a:off x="2596896" y="2081784"/>
            <a:ext cx="45902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Yes. Supports spreadsheets such as .xls, .xlsx, and .csv in data-analysis contexts.</a:t>
            </a:r>
            <a:endParaRPr lang="en-US" sz="760" dirty="0"/>
          </a:p>
        </p:txBody>
      </p:sp>
      <p:sp>
        <p:nvSpPr>
          <p:cNvPr id="19" name="Shape 17"/>
          <p:cNvSpPr/>
          <p:nvPr/>
        </p:nvSpPr>
        <p:spPr>
          <a:xfrm>
            <a:off x="7223760" y="2049780"/>
            <a:ext cx="4434840" cy="541020"/>
          </a:xfrm>
          <a:prstGeom prst="rect">
            <a:avLst/>
          </a:prstGeom>
          <a:solidFill>
            <a:srgbClr val="F7FBFF"/>
          </a:solidFill>
          <a:ln w="6350">
            <a:solidFill>
              <a:srgbClr val="D8E3F0"/>
            </a:solidFill>
            <a:prstDash val="solid"/>
          </a:ln>
        </p:spPr>
      </p:sp>
      <p:sp>
        <p:nvSpPr>
          <p:cNvPr id="20" name="Text 18"/>
          <p:cNvSpPr/>
          <p:nvPr/>
        </p:nvSpPr>
        <p:spPr>
          <a:xfrm>
            <a:off x="7260336" y="2081784"/>
            <a:ext cx="43616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Use clear column names and validate file parsing.</a:t>
            </a:r>
            <a:endParaRPr lang="en-US" sz="760" dirty="0"/>
          </a:p>
        </p:txBody>
      </p:sp>
      <p:sp>
        <p:nvSpPr>
          <p:cNvPr id="21" name="Shape 19"/>
          <p:cNvSpPr/>
          <p:nvPr/>
        </p:nvSpPr>
        <p:spPr>
          <a:xfrm>
            <a:off x="502920" y="2590800"/>
            <a:ext cx="2057400" cy="541020"/>
          </a:xfrm>
          <a:prstGeom prst="rect">
            <a:avLst/>
          </a:prstGeom>
          <a:solidFill>
            <a:srgbClr val="FFFFFF"/>
          </a:solidFill>
          <a:ln w="6350">
            <a:solidFill>
              <a:srgbClr val="D8E3F0"/>
            </a:solidFill>
            <a:prstDash val="solid"/>
          </a:ln>
        </p:spPr>
      </p:sp>
      <p:sp>
        <p:nvSpPr>
          <p:cNvPr id="22" name="Text 20"/>
          <p:cNvSpPr/>
          <p:nvPr/>
        </p:nvSpPr>
        <p:spPr>
          <a:xfrm>
            <a:off x="539496" y="2622804"/>
            <a:ext cx="198424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Can it generate charts?</a:t>
            </a:r>
            <a:endParaRPr lang="en-US" sz="760" dirty="0"/>
          </a:p>
        </p:txBody>
      </p:sp>
      <p:sp>
        <p:nvSpPr>
          <p:cNvPr id="23" name="Shape 21"/>
          <p:cNvSpPr/>
          <p:nvPr/>
        </p:nvSpPr>
        <p:spPr>
          <a:xfrm>
            <a:off x="2560320" y="2590800"/>
            <a:ext cx="4663440" cy="541020"/>
          </a:xfrm>
          <a:prstGeom prst="rect">
            <a:avLst/>
          </a:prstGeom>
          <a:solidFill>
            <a:srgbClr val="FFFFFF"/>
          </a:solidFill>
          <a:ln w="6350">
            <a:solidFill>
              <a:srgbClr val="D8E3F0"/>
            </a:solidFill>
            <a:prstDash val="solid"/>
          </a:ln>
        </p:spPr>
      </p:sp>
      <p:sp>
        <p:nvSpPr>
          <p:cNvPr id="24" name="Text 22"/>
          <p:cNvSpPr/>
          <p:nvPr/>
        </p:nvSpPr>
        <p:spPr>
          <a:xfrm>
            <a:off x="2596896" y="2622804"/>
            <a:ext cx="45902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Yes. Can create tables/charts and generate plotting code.</a:t>
            </a:r>
            <a:endParaRPr lang="en-US" sz="760" dirty="0"/>
          </a:p>
        </p:txBody>
      </p:sp>
      <p:sp>
        <p:nvSpPr>
          <p:cNvPr id="25" name="Shape 23"/>
          <p:cNvSpPr/>
          <p:nvPr/>
        </p:nvSpPr>
        <p:spPr>
          <a:xfrm>
            <a:off x="7223760" y="2590800"/>
            <a:ext cx="4434840" cy="541020"/>
          </a:xfrm>
          <a:prstGeom prst="rect">
            <a:avLst/>
          </a:prstGeom>
          <a:solidFill>
            <a:srgbClr val="FFFFFF"/>
          </a:solidFill>
          <a:ln w="6350">
            <a:solidFill>
              <a:srgbClr val="D8E3F0"/>
            </a:solidFill>
            <a:prstDash val="solid"/>
          </a:ln>
        </p:spPr>
      </p:sp>
      <p:sp>
        <p:nvSpPr>
          <p:cNvPr id="26" name="Text 24"/>
          <p:cNvSpPr/>
          <p:nvPr/>
        </p:nvSpPr>
        <p:spPr>
          <a:xfrm>
            <a:off x="7260336" y="2622804"/>
            <a:ext cx="43616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Check scales, labels, and chart type.</a:t>
            </a:r>
            <a:endParaRPr lang="en-US" sz="760" dirty="0"/>
          </a:p>
        </p:txBody>
      </p:sp>
      <p:sp>
        <p:nvSpPr>
          <p:cNvPr id="27" name="Shape 25"/>
          <p:cNvSpPr/>
          <p:nvPr/>
        </p:nvSpPr>
        <p:spPr>
          <a:xfrm>
            <a:off x="502920" y="3131820"/>
            <a:ext cx="2057400" cy="541020"/>
          </a:xfrm>
          <a:prstGeom prst="rect">
            <a:avLst/>
          </a:prstGeom>
          <a:solidFill>
            <a:srgbClr val="F7FBFF"/>
          </a:solidFill>
          <a:ln w="6350">
            <a:solidFill>
              <a:srgbClr val="D8E3F0"/>
            </a:solidFill>
            <a:prstDash val="solid"/>
          </a:ln>
        </p:spPr>
      </p:sp>
      <p:sp>
        <p:nvSpPr>
          <p:cNvPr id="28" name="Text 26"/>
          <p:cNvSpPr/>
          <p:nvPr/>
        </p:nvSpPr>
        <p:spPr>
          <a:xfrm>
            <a:off x="539496" y="3163824"/>
            <a:ext cx="198424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Can it write SQL/Python/R?</a:t>
            </a:r>
            <a:endParaRPr lang="en-US" sz="760" dirty="0"/>
          </a:p>
        </p:txBody>
      </p:sp>
      <p:sp>
        <p:nvSpPr>
          <p:cNvPr id="29" name="Shape 27"/>
          <p:cNvSpPr/>
          <p:nvPr/>
        </p:nvSpPr>
        <p:spPr>
          <a:xfrm>
            <a:off x="2560320" y="3131820"/>
            <a:ext cx="4663440" cy="541020"/>
          </a:xfrm>
          <a:prstGeom prst="rect">
            <a:avLst/>
          </a:prstGeom>
          <a:solidFill>
            <a:srgbClr val="F7FBFF"/>
          </a:solidFill>
          <a:ln w="6350">
            <a:solidFill>
              <a:srgbClr val="D8E3F0"/>
            </a:solidFill>
            <a:prstDash val="solid"/>
          </a:ln>
        </p:spPr>
      </p:sp>
      <p:sp>
        <p:nvSpPr>
          <p:cNvPr id="30" name="Text 28"/>
          <p:cNvSpPr/>
          <p:nvPr/>
        </p:nvSpPr>
        <p:spPr>
          <a:xfrm>
            <a:off x="2596896" y="3163824"/>
            <a:ext cx="45902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Yes. Can generate SQL, Python, and R code; Python-backed analysis may run in supported modes.</a:t>
            </a:r>
            <a:endParaRPr lang="en-US" sz="760" dirty="0"/>
          </a:p>
        </p:txBody>
      </p:sp>
      <p:sp>
        <p:nvSpPr>
          <p:cNvPr id="31" name="Shape 29"/>
          <p:cNvSpPr/>
          <p:nvPr/>
        </p:nvSpPr>
        <p:spPr>
          <a:xfrm>
            <a:off x="7223760" y="3131820"/>
            <a:ext cx="4434840" cy="541020"/>
          </a:xfrm>
          <a:prstGeom prst="rect">
            <a:avLst/>
          </a:prstGeom>
          <a:solidFill>
            <a:srgbClr val="F7FBFF"/>
          </a:solidFill>
          <a:ln w="6350">
            <a:solidFill>
              <a:srgbClr val="D8E3F0"/>
            </a:solidFill>
            <a:prstDash val="solid"/>
          </a:ln>
        </p:spPr>
      </p:sp>
      <p:sp>
        <p:nvSpPr>
          <p:cNvPr id="32" name="Text 30"/>
          <p:cNvSpPr/>
          <p:nvPr/>
        </p:nvSpPr>
        <p:spPr>
          <a:xfrm>
            <a:off x="7260336" y="3163824"/>
            <a:ext cx="43616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Test code against your environment.</a:t>
            </a:r>
            <a:endParaRPr lang="en-US" sz="760" dirty="0"/>
          </a:p>
        </p:txBody>
      </p:sp>
      <p:sp>
        <p:nvSpPr>
          <p:cNvPr id="33" name="Shape 31"/>
          <p:cNvSpPr/>
          <p:nvPr/>
        </p:nvSpPr>
        <p:spPr>
          <a:xfrm>
            <a:off x="502920" y="3672840"/>
            <a:ext cx="2057400" cy="541020"/>
          </a:xfrm>
          <a:prstGeom prst="rect">
            <a:avLst/>
          </a:prstGeom>
          <a:solidFill>
            <a:srgbClr val="FFFFFF"/>
          </a:solidFill>
          <a:ln w="6350">
            <a:solidFill>
              <a:srgbClr val="D8E3F0"/>
            </a:solidFill>
            <a:prstDash val="solid"/>
          </a:ln>
        </p:spPr>
      </p:sp>
      <p:sp>
        <p:nvSpPr>
          <p:cNvPr id="34" name="Text 32"/>
          <p:cNvSpPr/>
          <p:nvPr/>
        </p:nvSpPr>
        <p:spPr>
          <a:xfrm>
            <a:off x="539496" y="3704844"/>
            <a:ext cx="198424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Can it summarize insights?</a:t>
            </a:r>
            <a:endParaRPr lang="en-US" sz="760" dirty="0"/>
          </a:p>
        </p:txBody>
      </p:sp>
      <p:sp>
        <p:nvSpPr>
          <p:cNvPr id="35" name="Shape 33"/>
          <p:cNvSpPr/>
          <p:nvPr/>
        </p:nvSpPr>
        <p:spPr>
          <a:xfrm>
            <a:off x="2560320" y="3672840"/>
            <a:ext cx="4663440" cy="541020"/>
          </a:xfrm>
          <a:prstGeom prst="rect">
            <a:avLst/>
          </a:prstGeom>
          <a:solidFill>
            <a:srgbClr val="FFFFFF"/>
          </a:solidFill>
          <a:ln w="6350">
            <a:solidFill>
              <a:srgbClr val="D8E3F0"/>
            </a:solidFill>
            <a:prstDash val="solid"/>
          </a:ln>
        </p:spPr>
      </p:sp>
      <p:sp>
        <p:nvSpPr>
          <p:cNvPr id="36" name="Text 34"/>
          <p:cNvSpPr/>
          <p:nvPr/>
        </p:nvSpPr>
        <p:spPr>
          <a:xfrm>
            <a:off x="2596896" y="3704844"/>
            <a:ext cx="45902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Yes. Converts data outputs into plain-language and executive summaries.</a:t>
            </a:r>
            <a:endParaRPr lang="en-US" sz="760" dirty="0"/>
          </a:p>
        </p:txBody>
      </p:sp>
      <p:sp>
        <p:nvSpPr>
          <p:cNvPr id="37" name="Shape 35"/>
          <p:cNvSpPr/>
          <p:nvPr/>
        </p:nvSpPr>
        <p:spPr>
          <a:xfrm>
            <a:off x="7223760" y="3672840"/>
            <a:ext cx="4434840" cy="541020"/>
          </a:xfrm>
          <a:prstGeom prst="rect">
            <a:avLst/>
          </a:prstGeom>
          <a:solidFill>
            <a:srgbClr val="FFFFFF"/>
          </a:solidFill>
          <a:ln w="6350">
            <a:solidFill>
              <a:srgbClr val="D8E3F0"/>
            </a:solidFill>
            <a:prstDash val="solid"/>
          </a:ln>
        </p:spPr>
      </p:sp>
      <p:sp>
        <p:nvSpPr>
          <p:cNvPr id="38" name="Text 36"/>
          <p:cNvSpPr/>
          <p:nvPr/>
        </p:nvSpPr>
        <p:spPr>
          <a:xfrm>
            <a:off x="7260336" y="3704844"/>
            <a:ext cx="43616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Validate that conclusions match the data.</a:t>
            </a:r>
            <a:endParaRPr lang="en-US" sz="760" dirty="0"/>
          </a:p>
        </p:txBody>
      </p:sp>
      <p:sp>
        <p:nvSpPr>
          <p:cNvPr id="39" name="Shape 37"/>
          <p:cNvSpPr/>
          <p:nvPr/>
        </p:nvSpPr>
        <p:spPr>
          <a:xfrm>
            <a:off x="502920" y="4213860"/>
            <a:ext cx="2057400" cy="541020"/>
          </a:xfrm>
          <a:prstGeom prst="rect">
            <a:avLst/>
          </a:prstGeom>
          <a:solidFill>
            <a:srgbClr val="F7FBFF"/>
          </a:solidFill>
          <a:ln w="6350">
            <a:solidFill>
              <a:srgbClr val="D8E3F0"/>
            </a:solidFill>
            <a:prstDash val="solid"/>
          </a:ln>
        </p:spPr>
      </p:sp>
      <p:sp>
        <p:nvSpPr>
          <p:cNvPr id="40" name="Text 38"/>
          <p:cNvSpPr/>
          <p:nvPr/>
        </p:nvSpPr>
        <p:spPr>
          <a:xfrm>
            <a:off x="539496" y="4245864"/>
            <a:ext cx="198424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Can it help dashboards/reports?</a:t>
            </a:r>
            <a:endParaRPr lang="en-US" sz="760" dirty="0"/>
          </a:p>
        </p:txBody>
      </p:sp>
      <p:sp>
        <p:nvSpPr>
          <p:cNvPr id="41" name="Shape 39"/>
          <p:cNvSpPr/>
          <p:nvPr/>
        </p:nvSpPr>
        <p:spPr>
          <a:xfrm>
            <a:off x="2560320" y="4213860"/>
            <a:ext cx="4663440" cy="541020"/>
          </a:xfrm>
          <a:prstGeom prst="rect">
            <a:avLst/>
          </a:prstGeom>
          <a:solidFill>
            <a:srgbClr val="F7FBFF"/>
          </a:solidFill>
          <a:ln w="6350">
            <a:solidFill>
              <a:srgbClr val="D8E3F0"/>
            </a:solidFill>
            <a:prstDash val="solid"/>
          </a:ln>
        </p:spPr>
      </p:sp>
      <p:sp>
        <p:nvSpPr>
          <p:cNvPr id="42" name="Text 40"/>
          <p:cNvSpPr/>
          <p:nvPr/>
        </p:nvSpPr>
        <p:spPr>
          <a:xfrm>
            <a:off x="2596896" y="4245864"/>
            <a:ext cx="45902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Yes. Can draft report narrative, KPI definitions, dashboard layout ideas, and slide content.</a:t>
            </a:r>
            <a:endParaRPr lang="en-US" sz="760" dirty="0"/>
          </a:p>
        </p:txBody>
      </p:sp>
      <p:sp>
        <p:nvSpPr>
          <p:cNvPr id="43" name="Shape 41"/>
          <p:cNvSpPr/>
          <p:nvPr/>
        </p:nvSpPr>
        <p:spPr>
          <a:xfrm>
            <a:off x="7223760" y="4213860"/>
            <a:ext cx="4434840" cy="541020"/>
          </a:xfrm>
          <a:prstGeom prst="rect">
            <a:avLst/>
          </a:prstGeom>
          <a:solidFill>
            <a:srgbClr val="F7FBFF"/>
          </a:solidFill>
          <a:ln w="6350">
            <a:solidFill>
              <a:srgbClr val="D8E3F0"/>
            </a:solidFill>
            <a:prstDash val="solid"/>
          </a:ln>
        </p:spPr>
      </p:sp>
      <p:sp>
        <p:nvSpPr>
          <p:cNvPr id="44" name="Text 42"/>
          <p:cNvSpPr/>
          <p:nvPr/>
        </p:nvSpPr>
        <p:spPr>
          <a:xfrm>
            <a:off x="7260336" y="4245864"/>
            <a:ext cx="4361688" cy="477012"/>
          </a:xfrm>
          <a:prstGeom prst="rect">
            <a:avLst/>
          </a:prstGeom>
          <a:noFill/>
          <a:ln/>
        </p:spPr>
        <p:txBody>
          <a:bodyPr wrap="square" lIns="127" tIns="127" rIns="127" bIns="127" rtlCol="0" anchor="ctr">
            <a:normAutofit/>
          </a:bodyPr>
          <a:lstStyle/>
          <a:p>
            <a:pPr indent="0" marL="0">
              <a:buNone/>
            </a:pPr>
            <a:r>
              <a:rPr lang="en-US" sz="760" dirty="0">
                <a:solidFill>
                  <a:srgbClr val="111827"/>
                </a:solidFill>
                <a:latin typeface="Aptos" pitchFamily="34" charset="0"/>
                <a:ea typeface="Aptos" pitchFamily="34" charset="-122"/>
                <a:cs typeface="Aptos" pitchFamily="34" charset="-120"/>
              </a:rPr>
              <a:t>Treat as a draft, not a final business decision.</a:t>
            </a:r>
            <a:endParaRPr lang="en-US" sz="760" dirty="0"/>
          </a:p>
        </p:txBody>
      </p:sp>
      <p:sp>
        <p:nvSpPr>
          <p:cNvPr id="45" name="Shape 43"/>
          <p:cNvSpPr/>
          <p:nvPr/>
        </p:nvSpPr>
        <p:spPr>
          <a:xfrm>
            <a:off x="685800" y="5074920"/>
            <a:ext cx="3246120" cy="868680"/>
          </a:xfrm>
          <a:prstGeom prst="roundRect">
            <a:avLst>
              <a:gd name="adj" fmla="val 8421"/>
            </a:avLst>
          </a:prstGeom>
          <a:solidFill>
            <a:srgbClr val="F5FAFF"/>
          </a:solidFill>
          <a:ln w="9525">
            <a:solidFill>
              <a:srgbClr val="D6E4F2"/>
            </a:solidFill>
            <a:prstDash val="solid"/>
          </a:ln>
        </p:spPr>
      </p:sp>
      <p:sp>
        <p:nvSpPr>
          <p:cNvPr id="46" name="Text 44"/>
          <p:cNvSpPr/>
          <p:nvPr/>
        </p:nvSpPr>
        <p:spPr>
          <a:xfrm>
            <a:off x="914400" y="5285232"/>
            <a:ext cx="2651760" cy="256032"/>
          </a:xfrm>
          <a:prstGeom prst="rect">
            <a:avLst/>
          </a:prstGeom>
          <a:noFill/>
          <a:ln/>
        </p:spPr>
        <p:txBody>
          <a:bodyPr wrap="square" lIns="0" tIns="0" rIns="0" bIns="0" rtlCol="0" anchor="ctr"/>
          <a:lstStyle/>
          <a:p>
            <a:pPr indent="0" marL="0">
              <a:buNone/>
            </a:pPr>
            <a:r>
              <a:rPr lang="en-US" sz="1600" b="1" dirty="0">
                <a:solidFill>
                  <a:srgbClr val="107C10"/>
                </a:solidFill>
                <a:latin typeface="Aptos Display" pitchFamily="34" charset="0"/>
                <a:ea typeface="Aptos Display" pitchFamily="34" charset="-122"/>
                <a:cs typeface="Aptos Display" pitchFamily="34" charset="-120"/>
              </a:rPr>
              <a:t>✓ Excel / CSV</a:t>
            </a:r>
            <a:endParaRPr lang="en-US" sz="1600" dirty="0"/>
          </a:p>
        </p:txBody>
      </p:sp>
      <p:sp>
        <p:nvSpPr>
          <p:cNvPr id="47" name="Shape 45"/>
          <p:cNvSpPr/>
          <p:nvPr/>
        </p:nvSpPr>
        <p:spPr>
          <a:xfrm>
            <a:off x="4480560" y="5074920"/>
            <a:ext cx="3246120" cy="868680"/>
          </a:xfrm>
          <a:prstGeom prst="roundRect">
            <a:avLst>
              <a:gd name="adj" fmla="val 8421"/>
            </a:avLst>
          </a:prstGeom>
          <a:solidFill>
            <a:srgbClr val="F5FAFF"/>
          </a:solidFill>
          <a:ln w="9525">
            <a:solidFill>
              <a:srgbClr val="D6E4F2"/>
            </a:solidFill>
            <a:prstDash val="solid"/>
          </a:ln>
        </p:spPr>
      </p:sp>
      <p:sp>
        <p:nvSpPr>
          <p:cNvPr id="48" name="Text 46"/>
          <p:cNvSpPr/>
          <p:nvPr/>
        </p:nvSpPr>
        <p:spPr>
          <a:xfrm>
            <a:off x="4709160" y="5285232"/>
            <a:ext cx="2697480" cy="256032"/>
          </a:xfrm>
          <a:prstGeom prst="rect">
            <a:avLst/>
          </a:prstGeom>
          <a:noFill/>
          <a:ln/>
        </p:spPr>
        <p:txBody>
          <a:bodyPr wrap="square" lIns="0" tIns="0" rIns="0" bIns="0" rtlCol="0" anchor="ctr"/>
          <a:lstStyle/>
          <a:p>
            <a:pPr indent="0" marL="0">
              <a:buNone/>
            </a:pPr>
            <a:r>
              <a:rPr lang="en-US" sz="1600" b="1" dirty="0">
                <a:solidFill>
                  <a:srgbClr val="107C10"/>
                </a:solidFill>
                <a:latin typeface="Aptos Display" pitchFamily="34" charset="0"/>
                <a:ea typeface="Aptos Display" pitchFamily="34" charset="-122"/>
                <a:cs typeface="Aptos Display" pitchFamily="34" charset="-120"/>
              </a:rPr>
              <a:t>✓ SQL / Python / R</a:t>
            </a:r>
            <a:endParaRPr lang="en-US" sz="1600" dirty="0"/>
          </a:p>
        </p:txBody>
      </p:sp>
      <p:sp>
        <p:nvSpPr>
          <p:cNvPr id="49" name="Shape 47"/>
          <p:cNvSpPr/>
          <p:nvPr/>
        </p:nvSpPr>
        <p:spPr>
          <a:xfrm>
            <a:off x="8275320" y="5074920"/>
            <a:ext cx="3246120" cy="868680"/>
          </a:xfrm>
          <a:prstGeom prst="roundRect">
            <a:avLst>
              <a:gd name="adj" fmla="val 8421"/>
            </a:avLst>
          </a:prstGeom>
          <a:solidFill>
            <a:srgbClr val="F5FAFF"/>
          </a:solidFill>
          <a:ln w="9525">
            <a:solidFill>
              <a:srgbClr val="D6E4F2"/>
            </a:solidFill>
            <a:prstDash val="solid"/>
          </a:ln>
        </p:spPr>
      </p:sp>
      <p:sp>
        <p:nvSpPr>
          <p:cNvPr id="50" name="Text 48"/>
          <p:cNvSpPr/>
          <p:nvPr/>
        </p:nvSpPr>
        <p:spPr>
          <a:xfrm>
            <a:off x="8503920" y="5285232"/>
            <a:ext cx="2651760" cy="256032"/>
          </a:xfrm>
          <a:prstGeom prst="rect">
            <a:avLst/>
          </a:prstGeom>
          <a:noFill/>
          <a:ln/>
        </p:spPr>
        <p:txBody>
          <a:bodyPr wrap="square" lIns="0" tIns="0" rIns="0" bIns="0" rtlCol="0" anchor="ctr"/>
          <a:lstStyle/>
          <a:p>
            <a:pPr indent="0" marL="0">
              <a:buNone/>
            </a:pPr>
            <a:r>
              <a:rPr lang="en-US" sz="1600" b="1" dirty="0">
                <a:solidFill>
                  <a:srgbClr val="107C10"/>
                </a:solidFill>
                <a:latin typeface="Aptos Display" pitchFamily="34" charset="0"/>
                <a:ea typeface="Aptos Display" pitchFamily="34" charset="-122"/>
                <a:cs typeface="Aptos Display" pitchFamily="34" charset="-120"/>
              </a:rPr>
              <a:t>✓ Charts / Reports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PRACTICAL TASK</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Same-Prompt Demonstration</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06</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972800" cy="320040"/>
          </a:xfrm>
          <a:prstGeom prst="rect">
            <a:avLst/>
          </a:prstGeom>
          <a:noFill/>
          <a:ln/>
        </p:spPr>
        <p:txBody>
          <a:bodyPr wrap="square" lIns="0" tIns="0" rIns="0" bIns="0" rtlCol="0" anchor="ctr"/>
          <a:lstStyle/>
          <a:p>
            <a:pPr indent="0" marL="0">
              <a:buNone/>
            </a:pPr>
            <a:r>
              <a:rPr lang="en-US" sz="1420" dirty="0">
                <a:solidFill>
                  <a:srgbClr val="111827"/>
                </a:solidFill>
                <a:latin typeface="Aptos" pitchFamily="34" charset="0"/>
                <a:ea typeface="Aptos" pitchFamily="34" charset="-122"/>
                <a:cs typeface="Aptos" pitchFamily="34" charset="-120"/>
              </a:rPr>
              <a:t>Common task: analyze a retail sales CSV, identify trends, recommend business actions, generate code, and create a visualization.</a:t>
            </a:r>
            <a:endParaRPr lang="en-US" sz="1420" dirty="0"/>
          </a:p>
        </p:txBody>
      </p:sp>
      <p:sp>
        <p:nvSpPr>
          <p:cNvPr id="9" name="Shape 7"/>
          <p:cNvSpPr/>
          <p:nvPr/>
        </p:nvSpPr>
        <p:spPr>
          <a:xfrm>
            <a:off x="594360" y="1508760"/>
            <a:ext cx="10972800" cy="749808"/>
          </a:xfrm>
          <a:prstGeom prst="roundRect">
            <a:avLst>
              <a:gd name="adj" fmla="val 9756"/>
            </a:avLst>
          </a:prstGeom>
          <a:solidFill>
            <a:srgbClr val="EAF4FF"/>
          </a:solidFill>
          <a:ln w="9525">
            <a:solidFill>
              <a:srgbClr val="B9DFFF"/>
            </a:solidFill>
            <a:prstDash val="solid"/>
          </a:ln>
        </p:spPr>
      </p:sp>
      <p:sp>
        <p:nvSpPr>
          <p:cNvPr id="10" name="Text 8"/>
          <p:cNvSpPr/>
          <p:nvPr/>
        </p:nvSpPr>
        <p:spPr>
          <a:xfrm>
            <a:off x="868680" y="1691640"/>
            <a:ext cx="731520" cy="164592"/>
          </a:xfrm>
          <a:prstGeom prst="rect">
            <a:avLst/>
          </a:prstGeom>
          <a:noFill/>
          <a:ln/>
        </p:spPr>
        <p:txBody>
          <a:bodyPr wrap="square" lIns="0" tIns="0" rIns="0" bIns="0" rtlCol="0" anchor="ctr"/>
          <a:lstStyle/>
          <a:p>
            <a:pPr indent="0" marL="0">
              <a:buNone/>
            </a:pPr>
            <a:r>
              <a:rPr lang="en-US" sz="900" b="1" dirty="0">
                <a:solidFill>
                  <a:srgbClr val="005A9C"/>
                </a:solidFill>
                <a:latin typeface="Aptos" pitchFamily="34" charset="0"/>
                <a:ea typeface="Aptos" pitchFamily="34" charset="-122"/>
                <a:cs typeface="Aptos" pitchFamily="34" charset="-120"/>
              </a:rPr>
              <a:t>Prompt</a:t>
            </a:r>
            <a:endParaRPr lang="en-US" sz="900" dirty="0"/>
          </a:p>
        </p:txBody>
      </p:sp>
      <p:sp>
        <p:nvSpPr>
          <p:cNvPr id="11" name="Text 9"/>
          <p:cNvSpPr/>
          <p:nvPr/>
        </p:nvSpPr>
        <p:spPr>
          <a:xfrm>
            <a:off x="1600200" y="1627632"/>
            <a:ext cx="9601200" cy="292608"/>
          </a:xfrm>
          <a:prstGeom prst="rect">
            <a:avLst/>
          </a:prstGeom>
          <a:noFill/>
          <a:ln/>
        </p:spPr>
        <p:txBody>
          <a:bodyPr wrap="square" lIns="0" tIns="0" rIns="0" bIns="0" rtlCol="0" anchor="ctr">
            <a:normAutofit/>
          </a:bodyPr>
          <a:lstStyle/>
          <a:p>
            <a:pPr indent="0" marL="0">
              <a:buNone/>
            </a:pPr>
            <a:r>
              <a:rPr lang="en-US" sz="1250" b="1" dirty="0">
                <a:solidFill>
                  <a:srgbClr val="0F2D52"/>
                </a:solidFill>
                <a:latin typeface="Aptos" pitchFamily="34" charset="0"/>
                <a:ea typeface="Aptos" pitchFamily="34" charset="-122"/>
                <a:cs typeface="Aptos" pitchFamily="34" charset="-120"/>
              </a:rPr>
              <a:t>“Analyze this sales CSV. Identify revenue and profit trends, recommend 3 business actions, generate Python code, and create a visualization.”</a:t>
            </a:r>
            <a:endParaRPr lang="en-US" sz="1250" dirty="0"/>
          </a:p>
        </p:txBody>
      </p:sp>
      <p:sp>
        <p:nvSpPr>
          <p:cNvPr id="12" name="Shape 10"/>
          <p:cNvSpPr/>
          <p:nvPr/>
        </p:nvSpPr>
        <p:spPr>
          <a:xfrm>
            <a:off x="594360" y="2560320"/>
            <a:ext cx="2468880" cy="1417320"/>
          </a:xfrm>
          <a:prstGeom prst="roundRect">
            <a:avLst>
              <a:gd name="adj" fmla="val 5161"/>
            </a:avLst>
          </a:prstGeom>
          <a:solidFill>
            <a:srgbClr val="FFFFFF"/>
          </a:solidFill>
          <a:ln w="9525">
            <a:solidFill>
              <a:srgbClr val="D6E4F2"/>
            </a:solidFill>
            <a:prstDash val="solid"/>
          </a:ln>
        </p:spPr>
      </p:sp>
      <p:sp>
        <p:nvSpPr>
          <p:cNvPr id="13" name="Text 11"/>
          <p:cNvSpPr/>
          <p:nvPr/>
        </p:nvSpPr>
        <p:spPr>
          <a:xfrm>
            <a:off x="804672" y="2779776"/>
            <a:ext cx="1965960" cy="201168"/>
          </a:xfrm>
          <a:prstGeom prst="rect">
            <a:avLst/>
          </a:prstGeom>
          <a:noFill/>
          <a:ln/>
        </p:spPr>
        <p:txBody>
          <a:bodyPr wrap="square" lIns="0" tIns="0" rIns="0" bIns="0" rtlCol="0" anchor="ctr"/>
          <a:lstStyle/>
          <a:p>
            <a:pPr indent="0" marL="0">
              <a:buNone/>
            </a:pPr>
            <a:r>
              <a:rPr lang="en-US" sz="1200" b="1" dirty="0">
                <a:solidFill>
                  <a:srgbClr val="0F2D52"/>
                </a:solidFill>
                <a:latin typeface="Aptos Display" pitchFamily="34" charset="0"/>
                <a:ea typeface="Aptos Display" pitchFamily="34" charset="-122"/>
                <a:cs typeface="Aptos Display" pitchFamily="34" charset="-120"/>
              </a:rPr>
              <a:t>Data understanding</a:t>
            </a:r>
            <a:endParaRPr lang="en-US" sz="1200" dirty="0"/>
          </a:p>
        </p:txBody>
      </p:sp>
      <p:sp>
        <p:nvSpPr>
          <p:cNvPr id="14" name="Text 12"/>
          <p:cNvSpPr/>
          <p:nvPr/>
        </p:nvSpPr>
        <p:spPr>
          <a:xfrm>
            <a:off x="804672" y="3163824"/>
            <a:ext cx="1920240" cy="438912"/>
          </a:xfrm>
          <a:prstGeom prst="rect">
            <a:avLst/>
          </a:prstGeom>
          <a:noFill/>
          <a:ln/>
        </p:spPr>
        <p:txBody>
          <a:bodyPr wrap="square" lIns="254" tIns="254" rIns="254" bIns="254"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Reads file structure, fields, missing values, and date ranges</a:t>
            </a:r>
            <a:endParaRPr lang="en-US" sz="920" dirty="0"/>
          </a:p>
        </p:txBody>
      </p:sp>
      <p:sp>
        <p:nvSpPr>
          <p:cNvPr id="15" name="Shape 13"/>
          <p:cNvSpPr/>
          <p:nvPr/>
        </p:nvSpPr>
        <p:spPr>
          <a:xfrm>
            <a:off x="3383280" y="2560320"/>
            <a:ext cx="2468880" cy="1417320"/>
          </a:xfrm>
          <a:prstGeom prst="roundRect">
            <a:avLst>
              <a:gd name="adj" fmla="val 5161"/>
            </a:avLst>
          </a:prstGeom>
          <a:solidFill>
            <a:srgbClr val="F5FAFF"/>
          </a:solidFill>
          <a:ln w="9525">
            <a:solidFill>
              <a:srgbClr val="D6E4F2"/>
            </a:solidFill>
            <a:prstDash val="solid"/>
          </a:ln>
        </p:spPr>
      </p:sp>
      <p:sp>
        <p:nvSpPr>
          <p:cNvPr id="16" name="Text 14"/>
          <p:cNvSpPr/>
          <p:nvPr/>
        </p:nvSpPr>
        <p:spPr>
          <a:xfrm>
            <a:off x="3593592" y="2779776"/>
            <a:ext cx="1965960" cy="201168"/>
          </a:xfrm>
          <a:prstGeom prst="rect">
            <a:avLst/>
          </a:prstGeom>
          <a:noFill/>
          <a:ln/>
        </p:spPr>
        <p:txBody>
          <a:bodyPr wrap="square" lIns="0" tIns="0" rIns="0" bIns="0" rtlCol="0" anchor="ctr"/>
          <a:lstStyle/>
          <a:p>
            <a:pPr indent="0" marL="0">
              <a:buNone/>
            </a:pPr>
            <a:r>
              <a:rPr lang="en-US" sz="1200" b="1" dirty="0">
                <a:solidFill>
                  <a:srgbClr val="0F2D52"/>
                </a:solidFill>
                <a:latin typeface="Aptos Display" pitchFamily="34" charset="0"/>
                <a:ea typeface="Aptos Display" pitchFamily="34" charset="-122"/>
                <a:cs typeface="Aptos Display" pitchFamily="34" charset="-120"/>
              </a:rPr>
              <a:t>Insights</a:t>
            </a:r>
            <a:endParaRPr lang="en-US" sz="1200" dirty="0"/>
          </a:p>
        </p:txBody>
      </p:sp>
      <p:sp>
        <p:nvSpPr>
          <p:cNvPr id="17" name="Text 15"/>
          <p:cNvSpPr/>
          <p:nvPr/>
        </p:nvSpPr>
        <p:spPr>
          <a:xfrm>
            <a:off x="3593592" y="3163824"/>
            <a:ext cx="1920240" cy="438912"/>
          </a:xfrm>
          <a:prstGeom prst="rect">
            <a:avLst/>
          </a:prstGeom>
          <a:noFill/>
          <a:ln/>
        </p:spPr>
        <p:txBody>
          <a:bodyPr wrap="square" lIns="254" tIns="254" rIns="254" bIns="254"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Finds trends by time, region, product, margin, and discount</a:t>
            </a:r>
            <a:endParaRPr lang="en-US" sz="920" dirty="0"/>
          </a:p>
        </p:txBody>
      </p:sp>
      <p:sp>
        <p:nvSpPr>
          <p:cNvPr id="18" name="Shape 16"/>
          <p:cNvSpPr/>
          <p:nvPr/>
        </p:nvSpPr>
        <p:spPr>
          <a:xfrm>
            <a:off x="6172200" y="2560320"/>
            <a:ext cx="2468880" cy="1417320"/>
          </a:xfrm>
          <a:prstGeom prst="roundRect">
            <a:avLst>
              <a:gd name="adj" fmla="val 5161"/>
            </a:avLst>
          </a:prstGeom>
          <a:solidFill>
            <a:srgbClr val="FFFFFF"/>
          </a:solidFill>
          <a:ln w="9525">
            <a:solidFill>
              <a:srgbClr val="D6E4F2"/>
            </a:solidFill>
            <a:prstDash val="solid"/>
          </a:ln>
        </p:spPr>
      </p:sp>
      <p:sp>
        <p:nvSpPr>
          <p:cNvPr id="19" name="Text 17"/>
          <p:cNvSpPr/>
          <p:nvPr/>
        </p:nvSpPr>
        <p:spPr>
          <a:xfrm>
            <a:off x="6382512" y="2779776"/>
            <a:ext cx="1965960" cy="201168"/>
          </a:xfrm>
          <a:prstGeom prst="rect">
            <a:avLst/>
          </a:prstGeom>
          <a:noFill/>
          <a:ln/>
        </p:spPr>
        <p:txBody>
          <a:bodyPr wrap="square" lIns="0" tIns="0" rIns="0" bIns="0" rtlCol="0" anchor="ctr"/>
          <a:lstStyle/>
          <a:p>
            <a:pPr indent="0" marL="0">
              <a:buNone/>
            </a:pPr>
            <a:r>
              <a:rPr lang="en-US" sz="1200" b="1" dirty="0">
                <a:solidFill>
                  <a:srgbClr val="0F2D52"/>
                </a:solidFill>
                <a:latin typeface="Aptos Display" pitchFamily="34" charset="0"/>
                <a:ea typeface="Aptos Display" pitchFamily="34" charset="-122"/>
                <a:cs typeface="Aptos Display" pitchFamily="34" charset="-120"/>
              </a:rPr>
              <a:t>Code</a:t>
            </a:r>
            <a:endParaRPr lang="en-US" sz="1200" dirty="0"/>
          </a:p>
        </p:txBody>
      </p:sp>
      <p:sp>
        <p:nvSpPr>
          <p:cNvPr id="20" name="Text 18"/>
          <p:cNvSpPr/>
          <p:nvPr/>
        </p:nvSpPr>
        <p:spPr>
          <a:xfrm>
            <a:off x="6382512" y="3163824"/>
            <a:ext cx="1920240" cy="438912"/>
          </a:xfrm>
          <a:prstGeom prst="rect">
            <a:avLst/>
          </a:prstGeom>
          <a:noFill/>
          <a:ln/>
        </p:spPr>
        <p:txBody>
          <a:bodyPr wrap="square" lIns="254" tIns="254" rIns="254" bIns="254"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Generates reusable pandas + matplotlib code</a:t>
            </a:r>
            <a:endParaRPr lang="en-US" sz="920" dirty="0"/>
          </a:p>
        </p:txBody>
      </p:sp>
      <p:sp>
        <p:nvSpPr>
          <p:cNvPr id="21" name="Shape 19"/>
          <p:cNvSpPr/>
          <p:nvPr/>
        </p:nvSpPr>
        <p:spPr>
          <a:xfrm>
            <a:off x="8961120" y="2560320"/>
            <a:ext cx="2468880" cy="1417320"/>
          </a:xfrm>
          <a:prstGeom prst="roundRect">
            <a:avLst>
              <a:gd name="adj" fmla="val 5161"/>
            </a:avLst>
          </a:prstGeom>
          <a:solidFill>
            <a:srgbClr val="F5FAFF"/>
          </a:solidFill>
          <a:ln w="9525">
            <a:solidFill>
              <a:srgbClr val="D6E4F2"/>
            </a:solidFill>
            <a:prstDash val="solid"/>
          </a:ln>
        </p:spPr>
      </p:sp>
      <p:sp>
        <p:nvSpPr>
          <p:cNvPr id="22" name="Text 20"/>
          <p:cNvSpPr/>
          <p:nvPr/>
        </p:nvSpPr>
        <p:spPr>
          <a:xfrm>
            <a:off x="9171432" y="2779776"/>
            <a:ext cx="1965960" cy="201168"/>
          </a:xfrm>
          <a:prstGeom prst="rect">
            <a:avLst/>
          </a:prstGeom>
          <a:noFill/>
          <a:ln/>
        </p:spPr>
        <p:txBody>
          <a:bodyPr wrap="square" lIns="0" tIns="0" rIns="0" bIns="0" rtlCol="0" anchor="ctr"/>
          <a:lstStyle/>
          <a:p>
            <a:pPr indent="0" marL="0">
              <a:buNone/>
            </a:pPr>
            <a:r>
              <a:rPr lang="en-US" sz="1200" b="1" dirty="0">
                <a:solidFill>
                  <a:srgbClr val="0F2D52"/>
                </a:solidFill>
                <a:latin typeface="Aptos Display" pitchFamily="34" charset="0"/>
                <a:ea typeface="Aptos Display" pitchFamily="34" charset="-122"/>
                <a:cs typeface="Aptos Display" pitchFamily="34" charset="-120"/>
              </a:rPr>
              <a:t>Business actions</a:t>
            </a:r>
            <a:endParaRPr lang="en-US" sz="1200" dirty="0"/>
          </a:p>
        </p:txBody>
      </p:sp>
      <p:sp>
        <p:nvSpPr>
          <p:cNvPr id="23" name="Text 21"/>
          <p:cNvSpPr/>
          <p:nvPr/>
        </p:nvSpPr>
        <p:spPr>
          <a:xfrm>
            <a:off x="9171432" y="3163824"/>
            <a:ext cx="1920240" cy="438912"/>
          </a:xfrm>
          <a:prstGeom prst="rect">
            <a:avLst/>
          </a:prstGeom>
          <a:noFill/>
          <a:ln/>
        </p:spPr>
        <p:txBody>
          <a:bodyPr wrap="square" lIns="254" tIns="254" rIns="254" bIns="254" rtlCol="0" anchor="ctr">
            <a:normAutofit/>
          </a:bodyPr>
          <a:lstStyle/>
          <a:p>
            <a:pPr indent="0" marL="0">
              <a:buNone/>
            </a:pPr>
            <a:r>
              <a:rPr lang="en-US" sz="920" dirty="0">
                <a:solidFill>
                  <a:srgbClr val="111827"/>
                </a:solidFill>
                <a:latin typeface="Aptos" pitchFamily="34" charset="0"/>
                <a:ea typeface="Aptos" pitchFamily="34" charset="-122"/>
                <a:cs typeface="Aptos" pitchFamily="34" charset="-120"/>
              </a:rPr>
              <a:t>Translates findings into prioritized recommendations</a:t>
            </a:r>
            <a:endParaRPr lang="en-US" sz="920" dirty="0"/>
          </a:p>
        </p:txBody>
      </p:sp>
      <p:sp>
        <p:nvSpPr>
          <p:cNvPr id="24" name="Shape 22"/>
          <p:cNvSpPr/>
          <p:nvPr/>
        </p:nvSpPr>
        <p:spPr>
          <a:xfrm>
            <a:off x="594360" y="4434840"/>
            <a:ext cx="5349240" cy="1234440"/>
          </a:xfrm>
          <a:prstGeom prst="roundRect">
            <a:avLst>
              <a:gd name="adj" fmla="val 5926"/>
            </a:avLst>
          </a:prstGeom>
          <a:solidFill>
            <a:srgbClr val="FFFFFF"/>
          </a:solidFill>
          <a:ln w="9525">
            <a:solidFill>
              <a:srgbClr val="D6E4F2"/>
            </a:solidFill>
            <a:prstDash val="solid"/>
          </a:ln>
        </p:spPr>
      </p:sp>
      <p:sp>
        <p:nvSpPr>
          <p:cNvPr id="25" name="Text 23"/>
          <p:cNvSpPr/>
          <p:nvPr/>
        </p:nvSpPr>
        <p:spPr>
          <a:xfrm>
            <a:off x="868680" y="4681728"/>
            <a:ext cx="201168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Example output summary</a:t>
            </a:r>
            <a:endParaRPr lang="en-US" sz="1100" dirty="0"/>
          </a:p>
        </p:txBody>
      </p:sp>
      <p:sp>
        <p:nvSpPr>
          <p:cNvPr id="26" name="Text 24"/>
          <p:cNvSpPr/>
          <p:nvPr/>
        </p:nvSpPr>
        <p:spPr>
          <a:xfrm>
            <a:off x="868680" y="5001768"/>
            <a:ext cx="4434840" cy="384048"/>
          </a:xfrm>
          <a:prstGeom prst="rect">
            <a:avLst/>
          </a:prstGeom>
          <a:noFill/>
          <a:ln/>
        </p:spPr>
        <p:txBody>
          <a:bodyPr wrap="square" lIns="381" tIns="381" rIns="381" bIns="381" rtlCol="0" anchor="ctr">
            <a:normAutofit/>
          </a:bodyPr>
          <a:lstStyle/>
          <a:p>
            <a:pPr indent="0" marL="0">
              <a:buNone/>
            </a:pPr>
            <a:r>
              <a:rPr lang="en-US" sz="1060" dirty="0">
                <a:solidFill>
                  <a:srgbClr val="111827"/>
                </a:solidFill>
                <a:latin typeface="Aptos" pitchFamily="34" charset="0"/>
                <a:ea typeface="Aptos" pitchFamily="34" charset="-122"/>
                <a:cs typeface="Aptos" pitchFamily="34" charset="-120"/>
              </a:rPr>
              <a:t>Sales increased in Q4, but margins declined due to higher discounting. Action: reduce broad discounts, focus on high-margin categories, and monitor underperforming regions.</a:t>
            </a:r>
            <a:endParaRPr lang="en-US" sz="1060" dirty="0"/>
          </a:p>
        </p:txBody>
      </p:sp>
      <p:sp>
        <p:nvSpPr>
          <p:cNvPr id="27" name="Shape 25"/>
          <p:cNvSpPr/>
          <p:nvPr/>
        </p:nvSpPr>
        <p:spPr>
          <a:xfrm>
            <a:off x="6263640" y="4434840"/>
            <a:ext cx="5303520" cy="1234440"/>
          </a:xfrm>
          <a:prstGeom prst="roundRect">
            <a:avLst>
              <a:gd name="adj" fmla="val 5926"/>
            </a:avLst>
          </a:prstGeom>
          <a:solidFill>
            <a:srgbClr val="FFFFFF"/>
          </a:solidFill>
          <a:ln w="9525">
            <a:solidFill>
              <a:srgbClr val="D6E4F2"/>
            </a:solidFill>
            <a:prstDash val="solid"/>
          </a:ln>
        </p:spPr>
      </p:sp>
      <p:sp>
        <p:nvSpPr>
          <p:cNvPr id="28" name="Text 26"/>
          <p:cNvSpPr/>
          <p:nvPr/>
        </p:nvSpPr>
        <p:spPr>
          <a:xfrm>
            <a:off x="6537960" y="4681728"/>
            <a:ext cx="201168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Example code generated</a:t>
            </a:r>
            <a:endParaRPr lang="en-US" sz="1100" dirty="0"/>
          </a:p>
        </p:txBody>
      </p:sp>
      <p:sp>
        <p:nvSpPr>
          <p:cNvPr id="29" name="Text 27"/>
          <p:cNvSpPr/>
          <p:nvPr/>
        </p:nvSpPr>
        <p:spPr>
          <a:xfrm>
            <a:off x="6537960" y="5001768"/>
            <a:ext cx="4434840" cy="384048"/>
          </a:xfrm>
          <a:prstGeom prst="rect">
            <a:avLst/>
          </a:prstGeom>
          <a:noFill/>
          <a:ln/>
        </p:spPr>
        <p:txBody>
          <a:bodyPr wrap="square" lIns="381" tIns="381" rIns="381" bIns="381" rtlCol="0" anchor="ctr">
            <a:normAutofit/>
          </a:bodyPr>
          <a:lstStyle/>
          <a:p>
            <a:pPr indent="0" marL="0">
              <a:buNone/>
            </a:pPr>
            <a:r>
              <a:rPr lang="en-US" sz="1100" dirty="0">
                <a:solidFill>
                  <a:srgbClr val="111827"/>
                </a:solidFill>
                <a:latin typeface="Aptos" pitchFamily="34" charset="0"/>
                <a:ea typeface="Aptos" pitchFamily="34" charset="-122"/>
                <a:cs typeface="Aptos" pitchFamily="34" charset="-120"/>
              </a:rPr>
              <a:t>df.groupby("Month")[["Revenue","Profit"]].sum()</a:t>
            </a:r>
            <a:endParaRPr lang="en-US" sz="1100" dirty="0"/>
          </a:p>
          <a:p>
            <a:pPr indent="0" marL="0">
              <a:buNone/>
            </a:pPr>
            <a:r>
              <a:rPr lang="en-US" sz="1100" dirty="0">
                <a:solidFill>
                  <a:srgbClr val="111827"/>
                </a:solidFill>
                <a:latin typeface="Aptos" pitchFamily="34" charset="0"/>
                <a:ea typeface="Aptos" pitchFamily="34" charset="-122"/>
                <a:cs typeface="Aptos" pitchFamily="34" charset="-120"/>
              </a:rPr>
              <a:t>.plot(kind="line")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RETAIL SALES PERFORMANCE</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Real-Life Data Analytics Use Case</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07</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972800" cy="320040"/>
          </a:xfrm>
          <a:prstGeom prst="rect">
            <a:avLst/>
          </a:prstGeom>
          <a:noFill/>
          <a:ln/>
        </p:spPr>
        <p:txBody>
          <a:bodyPr wrap="square" lIns="0" tIns="0" rIns="0" bIns="0" rtlCol="0" anchor="ctr"/>
          <a:lstStyle/>
          <a:p>
            <a:pPr indent="0" marL="0">
              <a:buNone/>
            </a:pPr>
            <a:r>
              <a:rPr lang="en-US" sz="1450" dirty="0">
                <a:solidFill>
                  <a:srgbClr val="111827"/>
                </a:solidFill>
                <a:latin typeface="Aptos" pitchFamily="34" charset="0"/>
                <a:ea typeface="Aptos" pitchFamily="34" charset="-122"/>
                <a:cs typeface="Aptos" pitchFamily="34" charset="-120"/>
              </a:rPr>
              <a:t>Use case: a retail company uses ChatGPT to accelerate sales performance analysis and prepare an executive briefing.</a:t>
            </a:r>
            <a:endParaRPr lang="en-US" sz="1450" dirty="0"/>
          </a:p>
        </p:txBody>
      </p:sp>
      <p:sp>
        <p:nvSpPr>
          <p:cNvPr id="9" name="Shape 7"/>
          <p:cNvSpPr/>
          <p:nvPr/>
        </p:nvSpPr>
        <p:spPr>
          <a:xfrm>
            <a:off x="685800" y="1691640"/>
            <a:ext cx="2148840" cy="960120"/>
          </a:xfrm>
          <a:prstGeom prst="roundRect">
            <a:avLst>
              <a:gd name="adj" fmla="val 7619"/>
            </a:avLst>
          </a:prstGeom>
          <a:solidFill>
            <a:srgbClr val="F5FAFF"/>
          </a:solidFill>
          <a:ln w="9525">
            <a:solidFill>
              <a:srgbClr val="D6E4F2"/>
            </a:solidFill>
            <a:prstDash val="solid"/>
          </a:ln>
        </p:spPr>
      </p:sp>
      <p:sp>
        <p:nvSpPr>
          <p:cNvPr id="10" name="Text 8"/>
          <p:cNvSpPr/>
          <p:nvPr/>
        </p:nvSpPr>
        <p:spPr>
          <a:xfrm>
            <a:off x="914400" y="1920240"/>
            <a:ext cx="1828800" cy="201168"/>
          </a:xfrm>
          <a:prstGeom prst="rect">
            <a:avLst/>
          </a:prstGeom>
          <a:noFill/>
          <a:ln/>
        </p:spPr>
        <p:txBody>
          <a:bodyPr wrap="square" lIns="0" tIns="0" rIns="0" bIns="0" rtlCol="0" anchor="ct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Upload</a:t>
            </a:r>
            <a:endParaRPr lang="en-US" sz="1500" dirty="0"/>
          </a:p>
        </p:txBody>
      </p:sp>
      <p:sp>
        <p:nvSpPr>
          <p:cNvPr id="11" name="Text 9"/>
          <p:cNvSpPr/>
          <p:nvPr/>
        </p:nvSpPr>
        <p:spPr>
          <a:xfrm>
            <a:off x="914400" y="2240280"/>
            <a:ext cx="1828800" cy="182880"/>
          </a:xfrm>
          <a:prstGeom prst="rect">
            <a:avLst/>
          </a:prstGeom>
          <a:noFill/>
          <a:ln/>
        </p:spPr>
        <p:txBody>
          <a:bodyPr wrap="square" lIns="0" tIns="0" rIns="0" bIns="0" rtlCol="0" anchor="ctr"/>
          <a:lstStyle/>
          <a:p>
            <a:pPr indent="0" marL="0">
              <a:buNone/>
            </a:pPr>
            <a:r>
              <a:rPr lang="en-US" sz="950" dirty="0">
                <a:solidFill>
                  <a:srgbClr val="111827"/>
                </a:solidFill>
                <a:latin typeface="Aptos" pitchFamily="34" charset="0"/>
                <a:ea typeface="Aptos" pitchFamily="34" charset="-122"/>
                <a:cs typeface="Aptos" pitchFamily="34" charset="-120"/>
              </a:rPr>
              <a:t>Sales CSV</a:t>
            </a:r>
            <a:endParaRPr lang="en-US" sz="950" dirty="0"/>
          </a:p>
        </p:txBody>
      </p:sp>
      <p:sp>
        <p:nvSpPr>
          <p:cNvPr id="12" name="Shape 10"/>
          <p:cNvSpPr/>
          <p:nvPr/>
        </p:nvSpPr>
        <p:spPr>
          <a:xfrm>
            <a:off x="2907792" y="1993392"/>
            <a:ext cx="228600" cy="320040"/>
          </a:xfrm>
          <a:prstGeom prst="chevron">
            <a:avLst/>
          </a:prstGeom>
          <a:solidFill>
            <a:srgbClr val="CFE7FF"/>
          </a:solidFill>
          <a:ln w="12700">
            <a:solidFill>
              <a:srgbClr val="CFE7FF"/>
            </a:solidFill>
            <a:prstDash val="solid"/>
          </a:ln>
        </p:spPr>
      </p:sp>
      <p:sp>
        <p:nvSpPr>
          <p:cNvPr id="13" name="Shape 11"/>
          <p:cNvSpPr/>
          <p:nvPr/>
        </p:nvSpPr>
        <p:spPr>
          <a:xfrm>
            <a:off x="3474720" y="1691640"/>
            <a:ext cx="2148840" cy="960120"/>
          </a:xfrm>
          <a:prstGeom prst="roundRect">
            <a:avLst>
              <a:gd name="adj" fmla="val 7619"/>
            </a:avLst>
          </a:prstGeom>
          <a:solidFill>
            <a:srgbClr val="F5FAFF"/>
          </a:solidFill>
          <a:ln w="9525">
            <a:solidFill>
              <a:srgbClr val="D6E4F2"/>
            </a:solidFill>
            <a:prstDash val="solid"/>
          </a:ln>
        </p:spPr>
      </p:sp>
      <p:sp>
        <p:nvSpPr>
          <p:cNvPr id="14" name="Text 12"/>
          <p:cNvSpPr/>
          <p:nvPr/>
        </p:nvSpPr>
        <p:spPr>
          <a:xfrm>
            <a:off x="3703320" y="1920240"/>
            <a:ext cx="1828800" cy="201168"/>
          </a:xfrm>
          <a:prstGeom prst="rect">
            <a:avLst/>
          </a:prstGeom>
          <a:noFill/>
          <a:ln/>
        </p:spPr>
        <p:txBody>
          <a:bodyPr wrap="square" lIns="0" tIns="0" rIns="0" bIns="0" rtlCol="0" anchor="ct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Analyze</a:t>
            </a:r>
            <a:endParaRPr lang="en-US" sz="1500" dirty="0"/>
          </a:p>
        </p:txBody>
      </p:sp>
      <p:sp>
        <p:nvSpPr>
          <p:cNvPr id="15" name="Text 13"/>
          <p:cNvSpPr/>
          <p:nvPr/>
        </p:nvSpPr>
        <p:spPr>
          <a:xfrm>
            <a:off x="3703320" y="2240280"/>
            <a:ext cx="1828800" cy="182880"/>
          </a:xfrm>
          <a:prstGeom prst="rect">
            <a:avLst/>
          </a:prstGeom>
          <a:noFill/>
          <a:ln/>
        </p:spPr>
        <p:txBody>
          <a:bodyPr wrap="square" lIns="0" tIns="0" rIns="0" bIns="0" rtlCol="0" anchor="ctr"/>
          <a:lstStyle/>
          <a:p>
            <a:pPr indent="0" marL="0">
              <a:buNone/>
            </a:pPr>
            <a:r>
              <a:rPr lang="en-US" sz="950" dirty="0">
                <a:solidFill>
                  <a:srgbClr val="111827"/>
                </a:solidFill>
                <a:latin typeface="Aptos" pitchFamily="34" charset="0"/>
                <a:ea typeface="Aptos" pitchFamily="34" charset="-122"/>
                <a:cs typeface="Aptos" pitchFamily="34" charset="-120"/>
              </a:rPr>
              <a:t>Revenue, profit, discounts</a:t>
            </a:r>
            <a:endParaRPr lang="en-US" sz="950" dirty="0"/>
          </a:p>
        </p:txBody>
      </p:sp>
      <p:sp>
        <p:nvSpPr>
          <p:cNvPr id="16" name="Shape 14"/>
          <p:cNvSpPr/>
          <p:nvPr/>
        </p:nvSpPr>
        <p:spPr>
          <a:xfrm>
            <a:off x="5696712" y="1993392"/>
            <a:ext cx="228600" cy="320040"/>
          </a:xfrm>
          <a:prstGeom prst="chevron">
            <a:avLst/>
          </a:prstGeom>
          <a:solidFill>
            <a:srgbClr val="CFE7FF"/>
          </a:solidFill>
          <a:ln w="12700">
            <a:solidFill>
              <a:srgbClr val="CFE7FF"/>
            </a:solidFill>
            <a:prstDash val="solid"/>
          </a:ln>
        </p:spPr>
      </p:sp>
      <p:sp>
        <p:nvSpPr>
          <p:cNvPr id="17" name="Shape 15"/>
          <p:cNvSpPr/>
          <p:nvPr/>
        </p:nvSpPr>
        <p:spPr>
          <a:xfrm>
            <a:off x="6263640" y="1691640"/>
            <a:ext cx="2148840" cy="960120"/>
          </a:xfrm>
          <a:prstGeom prst="roundRect">
            <a:avLst>
              <a:gd name="adj" fmla="val 7619"/>
            </a:avLst>
          </a:prstGeom>
          <a:solidFill>
            <a:srgbClr val="F5FAFF"/>
          </a:solidFill>
          <a:ln w="9525">
            <a:solidFill>
              <a:srgbClr val="D6E4F2"/>
            </a:solidFill>
            <a:prstDash val="solid"/>
          </a:ln>
        </p:spPr>
      </p:sp>
      <p:sp>
        <p:nvSpPr>
          <p:cNvPr id="18" name="Text 16"/>
          <p:cNvSpPr/>
          <p:nvPr/>
        </p:nvSpPr>
        <p:spPr>
          <a:xfrm>
            <a:off x="6492240" y="1920240"/>
            <a:ext cx="1828800" cy="201168"/>
          </a:xfrm>
          <a:prstGeom prst="rect">
            <a:avLst/>
          </a:prstGeom>
          <a:noFill/>
          <a:ln/>
        </p:spPr>
        <p:txBody>
          <a:bodyPr wrap="square" lIns="0" tIns="0" rIns="0" bIns="0" rtlCol="0" anchor="ct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Visualize</a:t>
            </a:r>
            <a:endParaRPr lang="en-US" sz="1500" dirty="0"/>
          </a:p>
        </p:txBody>
      </p:sp>
      <p:sp>
        <p:nvSpPr>
          <p:cNvPr id="19" name="Text 17"/>
          <p:cNvSpPr/>
          <p:nvPr/>
        </p:nvSpPr>
        <p:spPr>
          <a:xfrm>
            <a:off x="6492240" y="2240280"/>
            <a:ext cx="1828800" cy="182880"/>
          </a:xfrm>
          <a:prstGeom prst="rect">
            <a:avLst/>
          </a:prstGeom>
          <a:noFill/>
          <a:ln/>
        </p:spPr>
        <p:txBody>
          <a:bodyPr wrap="square" lIns="0" tIns="0" rIns="0" bIns="0" rtlCol="0" anchor="ctr"/>
          <a:lstStyle/>
          <a:p>
            <a:pPr indent="0" marL="0">
              <a:buNone/>
            </a:pPr>
            <a:r>
              <a:rPr lang="en-US" sz="950" dirty="0">
                <a:solidFill>
                  <a:srgbClr val="111827"/>
                </a:solidFill>
                <a:latin typeface="Aptos" pitchFamily="34" charset="0"/>
                <a:ea typeface="Aptos" pitchFamily="34" charset="-122"/>
                <a:cs typeface="Aptos" pitchFamily="34" charset="-120"/>
              </a:rPr>
              <a:t>Monthly and regional trends</a:t>
            </a:r>
            <a:endParaRPr lang="en-US" sz="950" dirty="0"/>
          </a:p>
        </p:txBody>
      </p:sp>
      <p:sp>
        <p:nvSpPr>
          <p:cNvPr id="20" name="Shape 18"/>
          <p:cNvSpPr/>
          <p:nvPr/>
        </p:nvSpPr>
        <p:spPr>
          <a:xfrm>
            <a:off x="8485632" y="1993392"/>
            <a:ext cx="228600" cy="320040"/>
          </a:xfrm>
          <a:prstGeom prst="chevron">
            <a:avLst/>
          </a:prstGeom>
          <a:solidFill>
            <a:srgbClr val="CFE7FF"/>
          </a:solidFill>
          <a:ln w="12700">
            <a:solidFill>
              <a:srgbClr val="CFE7FF"/>
            </a:solidFill>
            <a:prstDash val="solid"/>
          </a:ln>
        </p:spPr>
      </p:sp>
      <p:sp>
        <p:nvSpPr>
          <p:cNvPr id="21" name="Shape 19"/>
          <p:cNvSpPr/>
          <p:nvPr/>
        </p:nvSpPr>
        <p:spPr>
          <a:xfrm>
            <a:off x="9052560" y="1691640"/>
            <a:ext cx="2148840" cy="960120"/>
          </a:xfrm>
          <a:prstGeom prst="roundRect">
            <a:avLst>
              <a:gd name="adj" fmla="val 7619"/>
            </a:avLst>
          </a:prstGeom>
          <a:solidFill>
            <a:srgbClr val="F5FAFF"/>
          </a:solidFill>
          <a:ln w="9525">
            <a:solidFill>
              <a:srgbClr val="D6E4F2"/>
            </a:solidFill>
            <a:prstDash val="solid"/>
          </a:ln>
        </p:spPr>
      </p:sp>
      <p:sp>
        <p:nvSpPr>
          <p:cNvPr id="22" name="Text 20"/>
          <p:cNvSpPr/>
          <p:nvPr/>
        </p:nvSpPr>
        <p:spPr>
          <a:xfrm>
            <a:off x="9281160" y="1920240"/>
            <a:ext cx="1828800" cy="201168"/>
          </a:xfrm>
          <a:prstGeom prst="rect">
            <a:avLst/>
          </a:prstGeom>
          <a:noFill/>
          <a:ln/>
        </p:spPr>
        <p:txBody>
          <a:bodyPr wrap="square" lIns="0" tIns="0" rIns="0" bIns="0" rtlCol="0" anchor="ctr"/>
          <a:lstStyle/>
          <a:p>
            <a:pPr indent="0" marL="0">
              <a:buNone/>
            </a:pPr>
            <a:r>
              <a:rPr lang="en-US" sz="1500" b="1" dirty="0">
                <a:solidFill>
                  <a:srgbClr val="0F2D52"/>
                </a:solidFill>
                <a:latin typeface="Aptos Display" pitchFamily="34" charset="0"/>
                <a:ea typeface="Aptos Display" pitchFamily="34" charset="-122"/>
                <a:cs typeface="Aptos Display" pitchFamily="34" charset="-120"/>
              </a:rPr>
              <a:t>Decide</a:t>
            </a:r>
            <a:endParaRPr lang="en-US" sz="1500" dirty="0"/>
          </a:p>
        </p:txBody>
      </p:sp>
      <p:sp>
        <p:nvSpPr>
          <p:cNvPr id="23" name="Text 21"/>
          <p:cNvSpPr/>
          <p:nvPr/>
        </p:nvSpPr>
        <p:spPr>
          <a:xfrm>
            <a:off x="9281160" y="2240280"/>
            <a:ext cx="1828800" cy="182880"/>
          </a:xfrm>
          <a:prstGeom prst="rect">
            <a:avLst/>
          </a:prstGeom>
          <a:noFill/>
          <a:ln/>
        </p:spPr>
        <p:txBody>
          <a:bodyPr wrap="square" lIns="0" tIns="0" rIns="0" bIns="0" rtlCol="0" anchor="ctr"/>
          <a:lstStyle/>
          <a:p>
            <a:pPr indent="0" marL="0">
              <a:buNone/>
            </a:pPr>
            <a:r>
              <a:rPr lang="en-US" sz="950" dirty="0">
                <a:solidFill>
                  <a:srgbClr val="111827"/>
                </a:solidFill>
                <a:latin typeface="Aptos" pitchFamily="34" charset="0"/>
                <a:ea typeface="Aptos" pitchFamily="34" charset="-122"/>
                <a:cs typeface="Aptos" pitchFamily="34" charset="-120"/>
              </a:rPr>
              <a:t>Pricing and campaign actions</a:t>
            </a:r>
            <a:endParaRPr lang="en-US" sz="950" dirty="0"/>
          </a:p>
        </p:txBody>
      </p:sp>
      <p:sp>
        <p:nvSpPr>
          <p:cNvPr id="24" name="Shape 22"/>
          <p:cNvSpPr/>
          <p:nvPr/>
        </p:nvSpPr>
        <p:spPr>
          <a:xfrm>
            <a:off x="685800" y="3246120"/>
            <a:ext cx="5166360" cy="2240280"/>
          </a:xfrm>
          <a:prstGeom prst="roundRect">
            <a:avLst>
              <a:gd name="adj" fmla="val 3265"/>
            </a:avLst>
          </a:prstGeom>
          <a:solidFill>
            <a:srgbClr val="FFFFFF"/>
          </a:solidFill>
          <a:ln w="9525">
            <a:solidFill>
              <a:srgbClr val="D6E4F2"/>
            </a:solidFill>
            <a:prstDash val="solid"/>
          </a:ln>
        </p:spPr>
      </p:sp>
      <p:sp>
        <p:nvSpPr>
          <p:cNvPr id="25" name="Text 23"/>
          <p:cNvSpPr/>
          <p:nvPr/>
        </p:nvSpPr>
        <p:spPr>
          <a:xfrm>
            <a:off x="960120" y="3502152"/>
            <a:ext cx="182880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Business problem</a:t>
            </a:r>
            <a:endParaRPr lang="en-US" sz="1100" dirty="0"/>
          </a:p>
        </p:txBody>
      </p:sp>
      <p:sp>
        <p:nvSpPr>
          <p:cNvPr id="26" name="Text 24"/>
          <p:cNvSpPr/>
          <p:nvPr/>
        </p:nvSpPr>
        <p:spPr>
          <a:xfrm>
            <a:off x="960120" y="3913632"/>
            <a:ext cx="4343400" cy="822960"/>
          </a:xfrm>
          <a:prstGeom prst="rect">
            <a:avLst/>
          </a:prstGeom>
          <a:noFill/>
          <a:ln/>
        </p:spPr>
        <p:txBody>
          <a:bodyPr wrap="square" lIns="381" tIns="381" rIns="381" bIns="381" rtlCol="0" anchor="ctr">
            <a:normAutofit/>
          </a:bodyPr>
          <a:lstStyle/>
          <a:p>
            <a:pPr indent="0" marL="0">
              <a:buNone/>
            </a:pPr>
            <a:r>
              <a:rPr lang="en-US" sz="1300" dirty="0">
                <a:solidFill>
                  <a:srgbClr val="111827"/>
                </a:solidFill>
                <a:latin typeface="Aptos" pitchFamily="34" charset="0"/>
                <a:ea typeface="Aptos" pitchFamily="34" charset="-122"/>
                <a:cs typeface="Aptos" pitchFamily="34" charset="-120"/>
              </a:rPr>
              <a:t>Online revenue has grown, but profit is flat. Leaders need to know whether the issue is discounting, regional mix, product mix, or seasonal effects.</a:t>
            </a:r>
            <a:endParaRPr lang="en-US" sz="1300" dirty="0"/>
          </a:p>
        </p:txBody>
      </p:sp>
      <p:sp>
        <p:nvSpPr>
          <p:cNvPr id="27" name="Shape 25"/>
          <p:cNvSpPr/>
          <p:nvPr/>
        </p:nvSpPr>
        <p:spPr>
          <a:xfrm>
            <a:off x="6309360" y="3246120"/>
            <a:ext cx="5166360" cy="2240280"/>
          </a:xfrm>
          <a:prstGeom prst="roundRect">
            <a:avLst>
              <a:gd name="adj" fmla="val 3265"/>
            </a:avLst>
          </a:prstGeom>
          <a:solidFill>
            <a:srgbClr val="EAF4FF"/>
          </a:solidFill>
          <a:ln w="9525">
            <a:solidFill>
              <a:srgbClr val="B9DFFF"/>
            </a:solidFill>
            <a:prstDash val="solid"/>
          </a:ln>
        </p:spPr>
      </p:sp>
      <p:sp>
        <p:nvSpPr>
          <p:cNvPr id="28" name="Text 26"/>
          <p:cNvSpPr/>
          <p:nvPr/>
        </p:nvSpPr>
        <p:spPr>
          <a:xfrm>
            <a:off x="6583680" y="3502152"/>
            <a:ext cx="228600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ChatGPT-enabled outcome</a:t>
            </a:r>
            <a:endParaRPr lang="en-US" sz="1100" dirty="0"/>
          </a:p>
        </p:txBody>
      </p:sp>
      <p:sp>
        <p:nvSpPr>
          <p:cNvPr id="29" name="Text 27"/>
          <p:cNvSpPr/>
          <p:nvPr/>
        </p:nvSpPr>
        <p:spPr>
          <a:xfrm>
            <a:off x="6583680" y="3913632"/>
            <a:ext cx="4343400" cy="822960"/>
          </a:xfrm>
          <a:prstGeom prst="rect">
            <a:avLst/>
          </a:prstGeom>
          <a:noFill/>
          <a:ln/>
        </p:spPr>
        <p:txBody>
          <a:bodyPr wrap="square" lIns="381" tIns="381" rIns="381" bIns="381" rtlCol="0" anchor="ctr">
            <a:normAutofit/>
          </a:bodyPr>
          <a:lstStyle/>
          <a:p>
            <a:pPr indent="0" marL="0">
              <a:buNone/>
            </a:pPr>
            <a:r>
              <a:rPr lang="en-US" sz="1300" dirty="0">
                <a:solidFill>
                  <a:srgbClr val="111827"/>
                </a:solidFill>
                <a:latin typeface="Aptos" pitchFamily="34" charset="0"/>
                <a:ea typeface="Aptos" pitchFamily="34" charset="-122"/>
                <a:cs typeface="Aptos" pitchFamily="34" charset="-120"/>
              </a:rPr>
              <a:t>ChatGPT helps prepare a concise EDA, charts, Python code, and an executive summary with 3 recommended actions.</a:t>
            </a:r>
            <a:endParaRPr lang="en-US" sz="1300" dirty="0"/>
          </a:p>
        </p:txBody>
      </p:sp>
      <p:sp>
        <p:nvSpPr>
          <p:cNvPr id="30" name="Shape 28"/>
          <p:cNvSpPr/>
          <p:nvPr/>
        </p:nvSpPr>
        <p:spPr>
          <a:xfrm>
            <a:off x="1828800" y="5715000"/>
            <a:ext cx="8595360" cy="256032"/>
          </a:xfrm>
          <a:prstGeom prst="roundRect">
            <a:avLst>
              <a:gd name="adj" fmla="val 50000"/>
            </a:avLst>
          </a:prstGeom>
          <a:solidFill>
            <a:srgbClr val="0F2D52"/>
          </a:solidFill>
          <a:ln w="12700">
            <a:solidFill>
              <a:srgbClr val="0F2D52"/>
            </a:solidFill>
            <a:prstDash val="solid"/>
          </a:ln>
        </p:spPr>
      </p:sp>
      <p:sp>
        <p:nvSpPr>
          <p:cNvPr id="31" name="Text 29"/>
          <p:cNvSpPr/>
          <p:nvPr/>
        </p:nvSpPr>
        <p:spPr>
          <a:xfrm>
            <a:off x="1874520" y="5765292"/>
            <a:ext cx="8503920" cy="109728"/>
          </a:xfrm>
          <a:prstGeom prst="rect">
            <a:avLst/>
          </a:prstGeom>
          <a:noFill/>
          <a:ln/>
        </p:spPr>
        <p:txBody>
          <a:bodyPr wrap="square" lIns="0" tIns="0" rIns="0" bIns="0" rtlCol="0" anchor="ctr"/>
          <a:lstStyle/>
          <a:p>
            <a:pPr algn="ctr" indent="0" marL="0">
              <a:buNone/>
            </a:pPr>
            <a:r>
              <a:rPr lang="en-US" sz="850" b="1" dirty="0">
                <a:solidFill>
                  <a:srgbClr val="FFFFFF"/>
                </a:solidFill>
                <a:latin typeface="Aptos" pitchFamily="34" charset="0"/>
                <a:ea typeface="Aptos" pitchFamily="34" charset="-122"/>
                <a:cs typeface="Aptos" pitchFamily="34" charset="-120"/>
              </a:rPr>
              <a:t>Example recommendation: reduce blanket discounts and reallocate marketing spend to high-margin categories.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BALANCED ASSESSMENT</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Strengths, Limitations and Risk Controls</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08</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972800" cy="320040"/>
          </a:xfrm>
          <a:prstGeom prst="rect">
            <a:avLst/>
          </a:prstGeom>
          <a:noFill/>
          <a:ln/>
        </p:spPr>
        <p:txBody>
          <a:bodyPr wrap="square" lIns="0" tIns="0" rIns="0" bIns="0" rtlCol="0" anchor="ctr"/>
          <a:lstStyle/>
          <a:p>
            <a:pPr indent="0" marL="0">
              <a:buNone/>
            </a:pPr>
            <a:r>
              <a:rPr lang="en-US" sz="1450" dirty="0">
                <a:solidFill>
                  <a:srgbClr val="111827"/>
                </a:solidFill>
                <a:latin typeface="Aptos" pitchFamily="34" charset="0"/>
                <a:ea typeface="Aptos" pitchFamily="34" charset="-122"/>
                <a:cs typeface="Aptos" pitchFamily="34" charset="-120"/>
              </a:rPr>
              <a:t>ChatGPT is powerful for productivity, but professional analysts must manage accuracy, privacy, and validation risks.</a:t>
            </a:r>
            <a:endParaRPr lang="en-US" sz="1450" dirty="0"/>
          </a:p>
        </p:txBody>
      </p:sp>
      <p:sp>
        <p:nvSpPr>
          <p:cNvPr id="9" name="Shape 7"/>
          <p:cNvSpPr/>
          <p:nvPr/>
        </p:nvSpPr>
        <p:spPr>
          <a:xfrm>
            <a:off x="594360" y="1554480"/>
            <a:ext cx="5394960" cy="3337560"/>
          </a:xfrm>
          <a:prstGeom prst="roundRect">
            <a:avLst>
              <a:gd name="adj" fmla="val 2192"/>
            </a:avLst>
          </a:prstGeom>
          <a:solidFill>
            <a:srgbClr val="F5FAFF"/>
          </a:solidFill>
          <a:ln w="9525">
            <a:solidFill>
              <a:srgbClr val="D6E4F2"/>
            </a:solidFill>
            <a:prstDash val="solid"/>
          </a:ln>
        </p:spPr>
      </p:sp>
      <p:sp>
        <p:nvSpPr>
          <p:cNvPr id="10" name="Text 8"/>
          <p:cNvSpPr/>
          <p:nvPr/>
        </p:nvSpPr>
        <p:spPr>
          <a:xfrm>
            <a:off x="868680" y="1828800"/>
            <a:ext cx="1828800" cy="201168"/>
          </a:xfrm>
          <a:prstGeom prst="rect">
            <a:avLst/>
          </a:prstGeom>
          <a:noFill/>
          <a:ln/>
        </p:spPr>
        <p:txBody>
          <a:bodyPr wrap="square" lIns="0" tIns="0" rIns="0" bIns="0" rtlCol="0" anchor="ctr"/>
          <a:lstStyle/>
          <a:p>
            <a:pPr indent="0" marL="0">
              <a:buNone/>
            </a:pPr>
            <a:r>
              <a:rPr lang="en-US" sz="1100" b="1" dirty="0">
                <a:solidFill>
                  <a:srgbClr val="107C10"/>
                </a:solidFill>
                <a:latin typeface="Aptos" pitchFamily="34" charset="0"/>
                <a:ea typeface="Aptos" pitchFamily="34" charset="-122"/>
                <a:cs typeface="Aptos" pitchFamily="34" charset="-120"/>
              </a:rPr>
              <a:t>Strengths</a:t>
            </a:r>
            <a:endParaRPr lang="en-US" sz="1100" dirty="0"/>
          </a:p>
        </p:txBody>
      </p:sp>
      <p:sp>
        <p:nvSpPr>
          <p:cNvPr id="11" name="Text 9"/>
          <p:cNvSpPr/>
          <p:nvPr/>
        </p:nvSpPr>
        <p:spPr>
          <a:xfrm>
            <a:off x="868680" y="2194560"/>
            <a:ext cx="4434840" cy="1645920"/>
          </a:xfrm>
          <a:prstGeom prst="rect">
            <a:avLst/>
          </a:prstGeom>
          <a:noFill/>
          <a:ln/>
        </p:spPr>
        <p:txBody>
          <a:bodyPr wrap="square" lIns="381" tIns="381" rIns="381" bIns="381" rtlCol="0" anchor="ctr">
            <a:normAutofit/>
          </a:bodyPr>
          <a:lstStyle/>
          <a:p>
            <a:pPr indent="0" marL="0">
              <a:buNone/>
            </a:pPr>
            <a:r>
              <a:rPr lang="en-US" sz="1150" dirty="0">
                <a:solidFill>
                  <a:srgbClr val="111827"/>
                </a:solidFill>
                <a:latin typeface="Aptos" pitchFamily="34" charset="0"/>
                <a:ea typeface="Aptos" pitchFamily="34" charset="-122"/>
                <a:cs typeface="Aptos" pitchFamily="34" charset="-120"/>
              </a:rPr>
              <a:t>✓ Fast first draft of analysis and code</a:t>
            </a:r>
            <a:endParaRPr lang="en-US" sz="1150" dirty="0"/>
          </a:p>
          <a:p>
            <a:pPr indent="0" marL="0">
              <a:buNone/>
            </a:pPr>
            <a:r>
              <a:rPr lang="en-US" sz="1150" dirty="0">
                <a:solidFill>
                  <a:srgbClr val="111827"/>
                </a:solidFill>
                <a:latin typeface="Aptos" pitchFamily="34" charset="0"/>
                <a:ea typeface="Aptos" pitchFamily="34" charset="-122"/>
                <a:cs typeface="Aptos" pitchFamily="34" charset="-120"/>
              </a:rPr>
              <a:t>✓ Strong SQL, Python, and R generation</a:t>
            </a:r>
            <a:endParaRPr lang="en-US" sz="1150" dirty="0"/>
          </a:p>
          <a:p>
            <a:pPr indent="0" marL="0">
              <a:buNone/>
            </a:pPr>
            <a:r>
              <a:rPr lang="en-US" sz="1150" dirty="0">
                <a:solidFill>
                  <a:srgbClr val="111827"/>
                </a:solidFill>
                <a:latin typeface="Aptos" pitchFamily="34" charset="0"/>
                <a:ea typeface="Aptos" pitchFamily="34" charset="-122"/>
                <a:cs typeface="Aptos" pitchFamily="34" charset="-120"/>
              </a:rPr>
              <a:t>✓ Helpful chart and report support</a:t>
            </a:r>
            <a:endParaRPr lang="en-US" sz="1150" dirty="0"/>
          </a:p>
          <a:p>
            <a:pPr indent="0" marL="0">
              <a:buNone/>
            </a:pPr>
            <a:r>
              <a:rPr lang="en-US" sz="1150" dirty="0">
                <a:solidFill>
                  <a:srgbClr val="111827"/>
                </a:solidFill>
                <a:latin typeface="Aptos" pitchFamily="34" charset="0"/>
                <a:ea typeface="Aptos" pitchFamily="34" charset="-122"/>
                <a:cs typeface="Aptos" pitchFamily="34" charset="-120"/>
              </a:rPr>
              <a:t>✓ Good at translating technical findings</a:t>
            </a:r>
            <a:endParaRPr lang="en-US" sz="1150" dirty="0"/>
          </a:p>
          <a:p>
            <a:pPr indent="0" marL="0">
              <a:buNone/>
            </a:pPr>
            <a:r>
              <a:rPr lang="en-US" sz="1150" dirty="0">
                <a:solidFill>
                  <a:srgbClr val="111827"/>
                </a:solidFill>
                <a:latin typeface="Aptos" pitchFamily="34" charset="0"/>
                <a:ea typeface="Aptos" pitchFamily="34" charset="-122"/>
                <a:cs typeface="Aptos" pitchFamily="34" charset="-120"/>
              </a:rPr>
              <a:t>✓ Works across web, desktop, and mobile</a:t>
            </a:r>
            <a:endParaRPr lang="en-US" sz="1150" dirty="0"/>
          </a:p>
        </p:txBody>
      </p:sp>
      <p:sp>
        <p:nvSpPr>
          <p:cNvPr id="12" name="Shape 10"/>
          <p:cNvSpPr/>
          <p:nvPr/>
        </p:nvSpPr>
        <p:spPr>
          <a:xfrm>
            <a:off x="6263640" y="1554480"/>
            <a:ext cx="5303520" cy="3337560"/>
          </a:xfrm>
          <a:prstGeom prst="roundRect">
            <a:avLst>
              <a:gd name="adj" fmla="val 2192"/>
            </a:avLst>
          </a:prstGeom>
          <a:solidFill>
            <a:srgbClr val="FFF7ED"/>
          </a:solidFill>
          <a:ln w="9525">
            <a:solidFill>
              <a:srgbClr val="FBD38D"/>
            </a:solidFill>
            <a:prstDash val="solid"/>
          </a:ln>
        </p:spPr>
      </p:sp>
      <p:sp>
        <p:nvSpPr>
          <p:cNvPr id="13" name="Text 11"/>
          <p:cNvSpPr/>
          <p:nvPr/>
        </p:nvSpPr>
        <p:spPr>
          <a:xfrm>
            <a:off x="6537960" y="1828800"/>
            <a:ext cx="1828800" cy="201168"/>
          </a:xfrm>
          <a:prstGeom prst="rect">
            <a:avLst/>
          </a:prstGeom>
          <a:noFill/>
          <a:ln/>
        </p:spPr>
        <p:txBody>
          <a:bodyPr wrap="square" lIns="0" tIns="0" rIns="0" bIns="0" rtlCol="0" anchor="ctr"/>
          <a:lstStyle/>
          <a:p>
            <a:pPr indent="0" marL="0">
              <a:buNone/>
            </a:pPr>
            <a:r>
              <a:rPr lang="en-US" sz="1100" b="1" dirty="0">
                <a:solidFill>
                  <a:srgbClr val="F59E0B"/>
                </a:solidFill>
                <a:latin typeface="Aptos" pitchFamily="34" charset="0"/>
                <a:ea typeface="Aptos" pitchFamily="34" charset="-122"/>
                <a:cs typeface="Aptos" pitchFamily="34" charset="-120"/>
              </a:rPr>
              <a:t>Limitations</a:t>
            </a:r>
            <a:endParaRPr lang="en-US" sz="1100" dirty="0"/>
          </a:p>
        </p:txBody>
      </p:sp>
      <p:sp>
        <p:nvSpPr>
          <p:cNvPr id="14" name="Text 12"/>
          <p:cNvSpPr/>
          <p:nvPr/>
        </p:nvSpPr>
        <p:spPr>
          <a:xfrm>
            <a:off x="6537960" y="2194560"/>
            <a:ext cx="4434840" cy="1645920"/>
          </a:xfrm>
          <a:prstGeom prst="rect">
            <a:avLst/>
          </a:prstGeom>
          <a:noFill/>
          <a:ln/>
        </p:spPr>
        <p:txBody>
          <a:bodyPr wrap="square" lIns="381" tIns="381" rIns="381" bIns="381" rtlCol="0" anchor="ctr">
            <a:normAutofit/>
          </a:bodyPr>
          <a:lstStyle/>
          <a:p>
            <a:pPr indent="0" marL="0">
              <a:buNone/>
            </a:pPr>
            <a:r>
              <a:rPr lang="en-US" sz="1150" dirty="0">
                <a:solidFill>
                  <a:srgbClr val="111827"/>
                </a:solidFill>
                <a:latin typeface="Aptos" pitchFamily="34" charset="0"/>
                <a:ea typeface="Aptos" pitchFamily="34" charset="-122"/>
                <a:cs typeface="Aptos" pitchFamily="34" charset="-120"/>
              </a:rPr>
              <a:t>! Can make calculation or logic errors</a:t>
            </a:r>
            <a:endParaRPr lang="en-US" sz="1150" dirty="0"/>
          </a:p>
          <a:p>
            <a:pPr indent="0" marL="0">
              <a:buNone/>
            </a:pPr>
            <a:r>
              <a:rPr lang="en-US" sz="1150" dirty="0">
                <a:solidFill>
                  <a:srgbClr val="111827"/>
                </a:solidFill>
                <a:latin typeface="Aptos" pitchFamily="34" charset="0"/>
                <a:ea typeface="Aptos" pitchFamily="34" charset="-122"/>
                <a:cs typeface="Aptos" pitchFamily="34" charset="-120"/>
              </a:rPr>
              <a:t>! Outputs depend on prompt quality</a:t>
            </a:r>
            <a:endParaRPr lang="en-US" sz="1150" dirty="0"/>
          </a:p>
          <a:p>
            <a:pPr indent="0" marL="0">
              <a:buNone/>
            </a:pPr>
            <a:r>
              <a:rPr lang="en-US" sz="1150" dirty="0">
                <a:solidFill>
                  <a:srgbClr val="111827"/>
                </a:solidFill>
                <a:latin typeface="Aptos" pitchFamily="34" charset="0"/>
                <a:ea typeface="Aptos" pitchFamily="34" charset="-122"/>
                <a:cs typeface="Aptos" pitchFamily="34" charset="-120"/>
              </a:rPr>
              <a:t>! May misinterpret messy datasets</a:t>
            </a:r>
            <a:endParaRPr lang="en-US" sz="1150" dirty="0"/>
          </a:p>
          <a:p>
            <a:pPr indent="0" marL="0">
              <a:buNone/>
            </a:pPr>
            <a:r>
              <a:rPr lang="en-US" sz="1150" dirty="0">
                <a:solidFill>
                  <a:srgbClr val="111827"/>
                </a:solidFill>
                <a:latin typeface="Aptos" pitchFamily="34" charset="0"/>
                <a:ea typeface="Aptos" pitchFamily="34" charset="-122"/>
                <a:cs typeface="Aptos" pitchFamily="34" charset="-120"/>
              </a:rPr>
              <a:t>! Feature access varies by plan/settings</a:t>
            </a:r>
            <a:endParaRPr lang="en-US" sz="1150" dirty="0"/>
          </a:p>
          <a:p>
            <a:pPr indent="0" marL="0">
              <a:buNone/>
            </a:pPr>
            <a:r>
              <a:rPr lang="en-US" sz="1150" dirty="0">
                <a:solidFill>
                  <a:srgbClr val="111827"/>
                </a:solidFill>
                <a:latin typeface="Aptos" pitchFamily="34" charset="0"/>
                <a:ea typeface="Aptos" pitchFamily="34" charset="-122"/>
                <a:cs typeface="Aptos" pitchFamily="34" charset="-120"/>
              </a:rPr>
              <a:t>! Sensitive data requires governance</a:t>
            </a:r>
            <a:endParaRPr lang="en-US" sz="1150" dirty="0"/>
          </a:p>
        </p:txBody>
      </p:sp>
      <p:sp>
        <p:nvSpPr>
          <p:cNvPr id="15" name="Shape 13"/>
          <p:cNvSpPr/>
          <p:nvPr/>
        </p:nvSpPr>
        <p:spPr>
          <a:xfrm>
            <a:off x="1280160" y="5257800"/>
            <a:ext cx="9601200" cy="777240"/>
          </a:xfrm>
          <a:prstGeom prst="roundRect">
            <a:avLst>
              <a:gd name="adj" fmla="val 9412"/>
            </a:avLst>
          </a:prstGeom>
          <a:solidFill>
            <a:srgbClr val="0F2D52"/>
          </a:solidFill>
          <a:ln w="9525">
            <a:solidFill>
              <a:srgbClr val="0F2D52"/>
            </a:solidFill>
            <a:prstDash val="solid"/>
          </a:ln>
        </p:spPr>
      </p:sp>
      <p:sp>
        <p:nvSpPr>
          <p:cNvPr id="16" name="Text 14"/>
          <p:cNvSpPr/>
          <p:nvPr/>
        </p:nvSpPr>
        <p:spPr>
          <a:xfrm>
            <a:off x="1508760" y="5504688"/>
            <a:ext cx="9098280" cy="237744"/>
          </a:xfrm>
          <a:prstGeom prst="rect">
            <a:avLst/>
          </a:prstGeom>
          <a:noFill/>
          <a:ln/>
        </p:spPr>
        <p:txBody>
          <a:bodyPr wrap="square" lIns="0" tIns="0" rIns="0" bIns="0" rtlCol="0" anchor="ctr"/>
          <a:lstStyle/>
          <a:p>
            <a:pPr algn="ctr" indent="0" marL="0">
              <a:buNone/>
            </a:pPr>
            <a:r>
              <a:rPr lang="en-US" sz="1600" b="1" dirty="0">
                <a:solidFill>
                  <a:srgbClr val="FFFFFF"/>
                </a:solidFill>
                <a:latin typeface="Aptos Display" pitchFamily="34" charset="0"/>
                <a:ea typeface="Aptos Display" pitchFamily="34" charset="-122"/>
                <a:cs typeface="Aptos Display" pitchFamily="34" charset="-120"/>
              </a:rPr>
              <a:t>Control principle: use ChatGPT to accelerate analysis, not to replace verification.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CHATGPT PLAN SELECTION</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Comparison Table and Recommendations</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09</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972800" cy="320040"/>
          </a:xfrm>
          <a:prstGeom prst="rect">
            <a:avLst/>
          </a:prstGeom>
          <a:noFill/>
          <a:ln/>
        </p:spPr>
        <p:txBody>
          <a:bodyPr wrap="square" lIns="0" tIns="0" rIns="0" bIns="0" rtlCol="0" anchor="ctr"/>
          <a:lstStyle/>
          <a:p>
            <a:pPr indent="0" marL="0">
              <a:buNone/>
            </a:pPr>
            <a:r>
              <a:rPr lang="en-US" sz="1430" dirty="0">
                <a:solidFill>
                  <a:srgbClr val="111827"/>
                </a:solidFill>
                <a:latin typeface="Aptos" pitchFamily="34" charset="0"/>
                <a:ea typeface="Aptos" pitchFamily="34" charset="-122"/>
                <a:cs typeface="Aptos" pitchFamily="34" charset="-120"/>
              </a:rPr>
              <a:t>Because the presentation focuses on one tool, the comparison evaluates ChatGPT plans and recommends the best fit for different users.</a:t>
            </a:r>
            <a:endParaRPr lang="en-US" sz="1430" dirty="0"/>
          </a:p>
        </p:txBody>
      </p:sp>
      <p:sp>
        <p:nvSpPr>
          <p:cNvPr id="9" name="Shape 7"/>
          <p:cNvSpPr/>
          <p:nvPr/>
        </p:nvSpPr>
        <p:spPr>
          <a:xfrm>
            <a:off x="594360" y="1600200"/>
            <a:ext cx="2103120" cy="483326"/>
          </a:xfrm>
          <a:prstGeom prst="rect">
            <a:avLst/>
          </a:prstGeom>
          <a:solidFill>
            <a:srgbClr val="005A9C"/>
          </a:solidFill>
          <a:ln w="6350">
            <a:solidFill>
              <a:srgbClr val="D8E3F0"/>
            </a:solidFill>
            <a:prstDash val="solid"/>
          </a:ln>
        </p:spPr>
      </p:sp>
      <p:sp>
        <p:nvSpPr>
          <p:cNvPr id="10" name="Text 8"/>
          <p:cNvSpPr/>
          <p:nvPr/>
        </p:nvSpPr>
        <p:spPr>
          <a:xfrm>
            <a:off x="630936" y="1632204"/>
            <a:ext cx="2029968" cy="419318"/>
          </a:xfrm>
          <a:prstGeom prst="rect">
            <a:avLst/>
          </a:prstGeom>
          <a:noFill/>
          <a:ln/>
        </p:spPr>
        <p:txBody>
          <a:bodyPr wrap="square" lIns="127" tIns="127" rIns="127" bIns="127" rtlCol="0" anchor="ctr">
            <a:normAutofit/>
          </a:bodyPr>
          <a:lstStyle/>
          <a:p>
            <a:pPr indent="0" marL="0">
              <a:buNone/>
            </a:pPr>
            <a:r>
              <a:rPr lang="en-US" sz="820" b="1" dirty="0">
                <a:solidFill>
                  <a:srgbClr val="FFFFFF"/>
                </a:solidFill>
                <a:latin typeface="Aptos" pitchFamily="34" charset="0"/>
                <a:ea typeface="Aptos" pitchFamily="34" charset="-122"/>
                <a:cs typeface="Aptos" pitchFamily="34" charset="-120"/>
              </a:rPr>
              <a:t>User / need</a:t>
            </a:r>
            <a:endParaRPr lang="en-US" sz="820" dirty="0"/>
          </a:p>
        </p:txBody>
      </p:sp>
      <p:sp>
        <p:nvSpPr>
          <p:cNvPr id="11" name="Shape 9"/>
          <p:cNvSpPr/>
          <p:nvPr/>
        </p:nvSpPr>
        <p:spPr>
          <a:xfrm>
            <a:off x="2697480" y="1600200"/>
            <a:ext cx="2743200" cy="483326"/>
          </a:xfrm>
          <a:prstGeom prst="rect">
            <a:avLst/>
          </a:prstGeom>
          <a:solidFill>
            <a:srgbClr val="005A9C"/>
          </a:solidFill>
          <a:ln w="6350">
            <a:solidFill>
              <a:srgbClr val="D8E3F0"/>
            </a:solidFill>
            <a:prstDash val="solid"/>
          </a:ln>
        </p:spPr>
      </p:sp>
      <p:sp>
        <p:nvSpPr>
          <p:cNvPr id="12" name="Text 10"/>
          <p:cNvSpPr/>
          <p:nvPr/>
        </p:nvSpPr>
        <p:spPr>
          <a:xfrm>
            <a:off x="2734056" y="1632204"/>
            <a:ext cx="2670048" cy="419318"/>
          </a:xfrm>
          <a:prstGeom prst="rect">
            <a:avLst/>
          </a:prstGeom>
          <a:noFill/>
          <a:ln/>
        </p:spPr>
        <p:txBody>
          <a:bodyPr wrap="square" lIns="127" tIns="127" rIns="127" bIns="127" rtlCol="0" anchor="ctr">
            <a:normAutofit/>
          </a:bodyPr>
          <a:lstStyle/>
          <a:p>
            <a:pPr indent="0" marL="0">
              <a:buNone/>
            </a:pPr>
            <a:r>
              <a:rPr lang="en-US" sz="820" b="1" dirty="0">
                <a:solidFill>
                  <a:srgbClr val="FFFFFF"/>
                </a:solidFill>
                <a:latin typeface="Aptos" pitchFamily="34" charset="0"/>
                <a:ea typeface="Aptos" pitchFamily="34" charset="-122"/>
                <a:cs typeface="Aptos" pitchFamily="34" charset="-120"/>
              </a:rPr>
              <a:t>Recommended ChatGPT option</a:t>
            </a:r>
            <a:endParaRPr lang="en-US" sz="820" dirty="0"/>
          </a:p>
        </p:txBody>
      </p:sp>
      <p:sp>
        <p:nvSpPr>
          <p:cNvPr id="13" name="Shape 11"/>
          <p:cNvSpPr/>
          <p:nvPr/>
        </p:nvSpPr>
        <p:spPr>
          <a:xfrm>
            <a:off x="5440680" y="1600200"/>
            <a:ext cx="6126480" cy="483326"/>
          </a:xfrm>
          <a:prstGeom prst="rect">
            <a:avLst/>
          </a:prstGeom>
          <a:solidFill>
            <a:srgbClr val="005A9C"/>
          </a:solidFill>
          <a:ln w="6350">
            <a:solidFill>
              <a:srgbClr val="D8E3F0"/>
            </a:solidFill>
            <a:prstDash val="solid"/>
          </a:ln>
        </p:spPr>
      </p:sp>
      <p:sp>
        <p:nvSpPr>
          <p:cNvPr id="14" name="Text 12"/>
          <p:cNvSpPr/>
          <p:nvPr/>
        </p:nvSpPr>
        <p:spPr>
          <a:xfrm>
            <a:off x="5477256" y="1632204"/>
            <a:ext cx="6053328" cy="419318"/>
          </a:xfrm>
          <a:prstGeom prst="rect">
            <a:avLst/>
          </a:prstGeom>
          <a:noFill/>
          <a:ln/>
        </p:spPr>
        <p:txBody>
          <a:bodyPr wrap="square" lIns="127" tIns="127" rIns="127" bIns="127" rtlCol="0" anchor="ctr">
            <a:normAutofit/>
          </a:bodyPr>
          <a:lstStyle/>
          <a:p>
            <a:pPr indent="0" marL="0">
              <a:buNone/>
            </a:pPr>
            <a:r>
              <a:rPr lang="en-US" sz="820" b="1" dirty="0">
                <a:solidFill>
                  <a:srgbClr val="FFFFFF"/>
                </a:solidFill>
                <a:latin typeface="Aptos" pitchFamily="34" charset="0"/>
                <a:ea typeface="Aptos" pitchFamily="34" charset="-122"/>
                <a:cs typeface="Aptos" pitchFamily="34" charset="-120"/>
              </a:rPr>
              <a:t>Why</a:t>
            </a:r>
            <a:endParaRPr lang="en-US" sz="820" dirty="0"/>
          </a:p>
        </p:txBody>
      </p:sp>
      <p:sp>
        <p:nvSpPr>
          <p:cNvPr id="15" name="Shape 13"/>
          <p:cNvSpPr/>
          <p:nvPr/>
        </p:nvSpPr>
        <p:spPr>
          <a:xfrm>
            <a:off x="594360" y="2083526"/>
            <a:ext cx="2103120" cy="483326"/>
          </a:xfrm>
          <a:prstGeom prst="rect">
            <a:avLst/>
          </a:prstGeom>
          <a:solidFill>
            <a:srgbClr val="F7FBFF"/>
          </a:solidFill>
          <a:ln w="6350">
            <a:solidFill>
              <a:srgbClr val="D8E3F0"/>
            </a:solidFill>
            <a:prstDash val="solid"/>
          </a:ln>
        </p:spPr>
      </p:sp>
      <p:sp>
        <p:nvSpPr>
          <p:cNvPr id="16" name="Text 14"/>
          <p:cNvSpPr/>
          <p:nvPr/>
        </p:nvSpPr>
        <p:spPr>
          <a:xfrm>
            <a:off x="630936" y="2115530"/>
            <a:ext cx="202996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Best for students</a:t>
            </a:r>
            <a:endParaRPr lang="en-US" sz="820" dirty="0"/>
          </a:p>
        </p:txBody>
      </p:sp>
      <p:sp>
        <p:nvSpPr>
          <p:cNvPr id="17" name="Shape 15"/>
          <p:cNvSpPr/>
          <p:nvPr/>
        </p:nvSpPr>
        <p:spPr>
          <a:xfrm>
            <a:off x="2697480" y="2083526"/>
            <a:ext cx="2743200" cy="483326"/>
          </a:xfrm>
          <a:prstGeom prst="rect">
            <a:avLst/>
          </a:prstGeom>
          <a:solidFill>
            <a:srgbClr val="F7FBFF"/>
          </a:solidFill>
          <a:ln w="6350">
            <a:solidFill>
              <a:srgbClr val="D8E3F0"/>
            </a:solidFill>
            <a:prstDash val="solid"/>
          </a:ln>
        </p:spPr>
      </p:sp>
      <p:sp>
        <p:nvSpPr>
          <p:cNvPr id="18" name="Text 16"/>
          <p:cNvSpPr/>
          <p:nvPr/>
        </p:nvSpPr>
        <p:spPr>
          <a:xfrm>
            <a:off x="2734056" y="2115530"/>
            <a:ext cx="267004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Free or Go</a:t>
            </a:r>
            <a:endParaRPr lang="en-US" sz="820" dirty="0"/>
          </a:p>
        </p:txBody>
      </p:sp>
      <p:sp>
        <p:nvSpPr>
          <p:cNvPr id="19" name="Shape 17"/>
          <p:cNvSpPr/>
          <p:nvPr/>
        </p:nvSpPr>
        <p:spPr>
          <a:xfrm>
            <a:off x="5440680" y="2083526"/>
            <a:ext cx="6126480" cy="483326"/>
          </a:xfrm>
          <a:prstGeom prst="rect">
            <a:avLst/>
          </a:prstGeom>
          <a:solidFill>
            <a:srgbClr val="F7FBFF"/>
          </a:solidFill>
          <a:ln w="6350">
            <a:solidFill>
              <a:srgbClr val="D8E3F0"/>
            </a:solidFill>
            <a:prstDash val="solid"/>
          </a:ln>
        </p:spPr>
      </p:sp>
      <p:sp>
        <p:nvSpPr>
          <p:cNvPr id="20" name="Text 18"/>
          <p:cNvSpPr/>
          <p:nvPr/>
        </p:nvSpPr>
        <p:spPr>
          <a:xfrm>
            <a:off x="5477256" y="2115530"/>
            <a:ext cx="605332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Low cost; useful for learning, summaries, practice prompts, and lightweight data tasks</a:t>
            </a:r>
            <a:endParaRPr lang="en-US" sz="820" dirty="0"/>
          </a:p>
        </p:txBody>
      </p:sp>
      <p:sp>
        <p:nvSpPr>
          <p:cNvPr id="21" name="Shape 19"/>
          <p:cNvSpPr/>
          <p:nvPr/>
        </p:nvSpPr>
        <p:spPr>
          <a:xfrm>
            <a:off x="594360" y="2566851"/>
            <a:ext cx="2103120" cy="483326"/>
          </a:xfrm>
          <a:prstGeom prst="rect">
            <a:avLst/>
          </a:prstGeom>
          <a:solidFill>
            <a:srgbClr val="FFFFFF"/>
          </a:solidFill>
          <a:ln w="6350">
            <a:solidFill>
              <a:srgbClr val="D8E3F0"/>
            </a:solidFill>
            <a:prstDash val="solid"/>
          </a:ln>
        </p:spPr>
      </p:sp>
      <p:sp>
        <p:nvSpPr>
          <p:cNvPr id="22" name="Text 20"/>
          <p:cNvSpPr/>
          <p:nvPr/>
        </p:nvSpPr>
        <p:spPr>
          <a:xfrm>
            <a:off x="630936" y="2598855"/>
            <a:ext cx="202996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Best for professionals</a:t>
            </a:r>
            <a:endParaRPr lang="en-US" sz="820" dirty="0"/>
          </a:p>
        </p:txBody>
      </p:sp>
      <p:sp>
        <p:nvSpPr>
          <p:cNvPr id="23" name="Shape 21"/>
          <p:cNvSpPr/>
          <p:nvPr/>
        </p:nvSpPr>
        <p:spPr>
          <a:xfrm>
            <a:off x="2697480" y="2566851"/>
            <a:ext cx="2743200" cy="483326"/>
          </a:xfrm>
          <a:prstGeom prst="rect">
            <a:avLst/>
          </a:prstGeom>
          <a:solidFill>
            <a:srgbClr val="FFFFFF"/>
          </a:solidFill>
          <a:ln w="6350">
            <a:solidFill>
              <a:srgbClr val="D8E3F0"/>
            </a:solidFill>
            <a:prstDash val="solid"/>
          </a:ln>
        </p:spPr>
      </p:sp>
      <p:sp>
        <p:nvSpPr>
          <p:cNvPr id="24" name="Text 22"/>
          <p:cNvSpPr/>
          <p:nvPr/>
        </p:nvSpPr>
        <p:spPr>
          <a:xfrm>
            <a:off x="2734056" y="2598855"/>
            <a:ext cx="267004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Plus or Business</a:t>
            </a:r>
            <a:endParaRPr lang="en-US" sz="820" dirty="0"/>
          </a:p>
        </p:txBody>
      </p:sp>
      <p:sp>
        <p:nvSpPr>
          <p:cNvPr id="25" name="Shape 23"/>
          <p:cNvSpPr/>
          <p:nvPr/>
        </p:nvSpPr>
        <p:spPr>
          <a:xfrm>
            <a:off x="5440680" y="2566851"/>
            <a:ext cx="6126480" cy="483326"/>
          </a:xfrm>
          <a:prstGeom prst="rect">
            <a:avLst/>
          </a:prstGeom>
          <a:solidFill>
            <a:srgbClr val="FFFFFF"/>
          </a:solidFill>
          <a:ln w="6350">
            <a:solidFill>
              <a:srgbClr val="D8E3F0"/>
            </a:solidFill>
            <a:prstDash val="solid"/>
          </a:ln>
        </p:spPr>
      </p:sp>
      <p:sp>
        <p:nvSpPr>
          <p:cNvPr id="26" name="Text 24"/>
          <p:cNvSpPr/>
          <p:nvPr/>
        </p:nvSpPr>
        <p:spPr>
          <a:xfrm>
            <a:off x="5477256" y="2598855"/>
            <a:ext cx="605332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Expanded analysis, uploads, productivity features, and workspace controls for teams</a:t>
            </a:r>
            <a:endParaRPr lang="en-US" sz="820" dirty="0"/>
          </a:p>
        </p:txBody>
      </p:sp>
      <p:sp>
        <p:nvSpPr>
          <p:cNvPr id="27" name="Shape 25"/>
          <p:cNvSpPr/>
          <p:nvPr/>
        </p:nvSpPr>
        <p:spPr>
          <a:xfrm>
            <a:off x="594360" y="3050177"/>
            <a:ext cx="2103120" cy="483326"/>
          </a:xfrm>
          <a:prstGeom prst="rect">
            <a:avLst/>
          </a:prstGeom>
          <a:solidFill>
            <a:srgbClr val="F7FBFF"/>
          </a:solidFill>
          <a:ln w="6350">
            <a:solidFill>
              <a:srgbClr val="D8E3F0"/>
            </a:solidFill>
            <a:prstDash val="solid"/>
          </a:ln>
        </p:spPr>
      </p:sp>
      <p:sp>
        <p:nvSpPr>
          <p:cNvPr id="28" name="Text 26"/>
          <p:cNvSpPr/>
          <p:nvPr/>
        </p:nvSpPr>
        <p:spPr>
          <a:xfrm>
            <a:off x="630936" y="3082181"/>
            <a:ext cx="202996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Best free tool</a:t>
            </a:r>
            <a:endParaRPr lang="en-US" sz="820" dirty="0"/>
          </a:p>
        </p:txBody>
      </p:sp>
      <p:sp>
        <p:nvSpPr>
          <p:cNvPr id="29" name="Shape 27"/>
          <p:cNvSpPr/>
          <p:nvPr/>
        </p:nvSpPr>
        <p:spPr>
          <a:xfrm>
            <a:off x="2697480" y="3050177"/>
            <a:ext cx="2743200" cy="483326"/>
          </a:xfrm>
          <a:prstGeom prst="rect">
            <a:avLst/>
          </a:prstGeom>
          <a:solidFill>
            <a:srgbClr val="F7FBFF"/>
          </a:solidFill>
          <a:ln w="6350">
            <a:solidFill>
              <a:srgbClr val="D8E3F0"/>
            </a:solidFill>
            <a:prstDash val="solid"/>
          </a:ln>
        </p:spPr>
      </p:sp>
      <p:sp>
        <p:nvSpPr>
          <p:cNvPr id="30" name="Text 28"/>
          <p:cNvSpPr/>
          <p:nvPr/>
        </p:nvSpPr>
        <p:spPr>
          <a:xfrm>
            <a:off x="2734056" y="3082181"/>
            <a:ext cx="267004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ChatGPT Free</a:t>
            </a:r>
            <a:endParaRPr lang="en-US" sz="820" dirty="0"/>
          </a:p>
        </p:txBody>
      </p:sp>
      <p:sp>
        <p:nvSpPr>
          <p:cNvPr id="31" name="Shape 29"/>
          <p:cNvSpPr/>
          <p:nvPr/>
        </p:nvSpPr>
        <p:spPr>
          <a:xfrm>
            <a:off x="5440680" y="3050177"/>
            <a:ext cx="6126480" cy="483326"/>
          </a:xfrm>
          <a:prstGeom prst="rect">
            <a:avLst/>
          </a:prstGeom>
          <a:solidFill>
            <a:srgbClr val="F7FBFF"/>
          </a:solidFill>
          <a:ln w="6350">
            <a:solidFill>
              <a:srgbClr val="D8E3F0"/>
            </a:solidFill>
            <a:prstDash val="solid"/>
          </a:ln>
        </p:spPr>
      </p:sp>
      <p:sp>
        <p:nvSpPr>
          <p:cNvPr id="32" name="Text 30"/>
          <p:cNvSpPr/>
          <p:nvPr/>
        </p:nvSpPr>
        <p:spPr>
          <a:xfrm>
            <a:off x="5477256" y="3082181"/>
            <a:ext cx="605332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No-cost access to core AI assistant capabilities with limited usage</a:t>
            </a:r>
            <a:endParaRPr lang="en-US" sz="820" dirty="0"/>
          </a:p>
        </p:txBody>
      </p:sp>
      <p:sp>
        <p:nvSpPr>
          <p:cNvPr id="33" name="Shape 31"/>
          <p:cNvSpPr/>
          <p:nvPr/>
        </p:nvSpPr>
        <p:spPr>
          <a:xfrm>
            <a:off x="594360" y="3533503"/>
            <a:ext cx="2103120" cy="483326"/>
          </a:xfrm>
          <a:prstGeom prst="rect">
            <a:avLst/>
          </a:prstGeom>
          <a:solidFill>
            <a:srgbClr val="FFFFFF"/>
          </a:solidFill>
          <a:ln w="6350">
            <a:solidFill>
              <a:srgbClr val="D8E3F0"/>
            </a:solidFill>
            <a:prstDash val="solid"/>
          </a:ln>
        </p:spPr>
      </p:sp>
      <p:sp>
        <p:nvSpPr>
          <p:cNvPr id="34" name="Text 32"/>
          <p:cNvSpPr/>
          <p:nvPr/>
        </p:nvSpPr>
        <p:spPr>
          <a:xfrm>
            <a:off x="630936" y="3565507"/>
            <a:ext cx="202996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Overall best</a:t>
            </a:r>
            <a:endParaRPr lang="en-US" sz="820" dirty="0"/>
          </a:p>
        </p:txBody>
      </p:sp>
      <p:sp>
        <p:nvSpPr>
          <p:cNvPr id="35" name="Shape 33"/>
          <p:cNvSpPr/>
          <p:nvPr/>
        </p:nvSpPr>
        <p:spPr>
          <a:xfrm>
            <a:off x="2697480" y="3533503"/>
            <a:ext cx="2743200" cy="483326"/>
          </a:xfrm>
          <a:prstGeom prst="rect">
            <a:avLst/>
          </a:prstGeom>
          <a:solidFill>
            <a:srgbClr val="FFFFFF"/>
          </a:solidFill>
          <a:ln w="6350">
            <a:solidFill>
              <a:srgbClr val="D8E3F0"/>
            </a:solidFill>
            <a:prstDash val="solid"/>
          </a:ln>
        </p:spPr>
      </p:sp>
      <p:sp>
        <p:nvSpPr>
          <p:cNvPr id="36" name="Text 34"/>
          <p:cNvSpPr/>
          <p:nvPr/>
        </p:nvSpPr>
        <p:spPr>
          <a:xfrm>
            <a:off x="2734056" y="3565507"/>
            <a:ext cx="267004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ChatGPT Plus for individuals / Business for teams</a:t>
            </a:r>
            <a:endParaRPr lang="en-US" sz="820" dirty="0"/>
          </a:p>
        </p:txBody>
      </p:sp>
      <p:sp>
        <p:nvSpPr>
          <p:cNvPr id="37" name="Shape 35"/>
          <p:cNvSpPr/>
          <p:nvPr/>
        </p:nvSpPr>
        <p:spPr>
          <a:xfrm>
            <a:off x="5440680" y="3533503"/>
            <a:ext cx="6126480" cy="483326"/>
          </a:xfrm>
          <a:prstGeom prst="rect">
            <a:avLst/>
          </a:prstGeom>
          <a:solidFill>
            <a:srgbClr val="FFFFFF"/>
          </a:solidFill>
          <a:ln w="6350">
            <a:solidFill>
              <a:srgbClr val="D8E3F0"/>
            </a:solidFill>
            <a:prstDash val="solid"/>
          </a:ln>
        </p:spPr>
      </p:sp>
      <p:sp>
        <p:nvSpPr>
          <p:cNvPr id="38" name="Text 36"/>
          <p:cNvSpPr/>
          <p:nvPr/>
        </p:nvSpPr>
        <p:spPr>
          <a:xfrm>
            <a:off x="5477256" y="3565507"/>
            <a:ext cx="605332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Best balance of capability, cost, productivity, and governance</a:t>
            </a:r>
            <a:endParaRPr lang="en-US" sz="820" dirty="0"/>
          </a:p>
        </p:txBody>
      </p:sp>
      <p:sp>
        <p:nvSpPr>
          <p:cNvPr id="39" name="Shape 37"/>
          <p:cNvSpPr/>
          <p:nvPr/>
        </p:nvSpPr>
        <p:spPr>
          <a:xfrm>
            <a:off x="594360" y="4016829"/>
            <a:ext cx="2103120" cy="483326"/>
          </a:xfrm>
          <a:prstGeom prst="rect">
            <a:avLst/>
          </a:prstGeom>
          <a:solidFill>
            <a:srgbClr val="F7FBFF"/>
          </a:solidFill>
          <a:ln w="6350">
            <a:solidFill>
              <a:srgbClr val="D8E3F0"/>
            </a:solidFill>
            <a:prstDash val="solid"/>
          </a:ln>
        </p:spPr>
      </p:sp>
      <p:sp>
        <p:nvSpPr>
          <p:cNvPr id="40" name="Text 38"/>
          <p:cNvSpPr/>
          <p:nvPr/>
        </p:nvSpPr>
        <p:spPr>
          <a:xfrm>
            <a:off x="630936" y="4048833"/>
            <a:ext cx="202996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Heavy coding/research</a:t>
            </a:r>
            <a:endParaRPr lang="en-US" sz="820" dirty="0"/>
          </a:p>
        </p:txBody>
      </p:sp>
      <p:sp>
        <p:nvSpPr>
          <p:cNvPr id="41" name="Shape 39"/>
          <p:cNvSpPr/>
          <p:nvPr/>
        </p:nvSpPr>
        <p:spPr>
          <a:xfrm>
            <a:off x="2697480" y="4016829"/>
            <a:ext cx="2743200" cy="483326"/>
          </a:xfrm>
          <a:prstGeom prst="rect">
            <a:avLst/>
          </a:prstGeom>
          <a:solidFill>
            <a:srgbClr val="F7FBFF"/>
          </a:solidFill>
          <a:ln w="6350">
            <a:solidFill>
              <a:srgbClr val="D8E3F0"/>
            </a:solidFill>
            <a:prstDash val="solid"/>
          </a:ln>
        </p:spPr>
      </p:sp>
      <p:sp>
        <p:nvSpPr>
          <p:cNvPr id="42" name="Text 40"/>
          <p:cNvSpPr/>
          <p:nvPr/>
        </p:nvSpPr>
        <p:spPr>
          <a:xfrm>
            <a:off x="2734056" y="4048833"/>
            <a:ext cx="267004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Pro</a:t>
            </a:r>
            <a:endParaRPr lang="en-US" sz="820" dirty="0"/>
          </a:p>
        </p:txBody>
      </p:sp>
      <p:sp>
        <p:nvSpPr>
          <p:cNvPr id="43" name="Shape 41"/>
          <p:cNvSpPr/>
          <p:nvPr/>
        </p:nvSpPr>
        <p:spPr>
          <a:xfrm>
            <a:off x="5440680" y="4016829"/>
            <a:ext cx="6126480" cy="483326"/>
          </a:xfrm>
          <a:prstGeom prst="rect">
            <a:avLst/>
          </a:prstGeom>
          <a:solidFill>
            <a:srgbClr val="F7FBFF"/>
          </a:solidFill>
          <a:ln w="6350">
            <a:solidFill>
              <a:srgbClr val="D8E3F0"/>
            </a:solidFill>
            <a:prstDash val="solid"/>
          </a:ln>
        </p:spPr>
      </p:sp>
      <p:sp>
        <p:nvSpPr>
          <p:cNvPr id="44" name="Text 42"/>
          <p:cNvSpPr/>
          <p:nvPr/>
        </p:nvSpPr>
        <p:spPr>
          <a:xfrm>
            <a:off x="5477256" y="4048833"/>
            <a:ext cx="605332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Higher usage for advanced coding, deep research, and demanding workflows</a:t>
            </a:r>
            <a:endParaRPr lang="en-US" sz="820" dirty="0"/>
          </a:p>
        </p:txBody>
      </p:sp>
      <p:sp>
        <p:nvSpPr>
          <p:cNvPr id="45" name="Shape 43"/>
          <p:cNvSpPr/>
          <p:nvPr/>
        </p:nvSpPr>
        <p:spPr>
          <a:xfrm>
            <a:off x="594360" y="4500154"/>
            <a:ext cx="2103120" cy="483326"/>
          </a:xfrm>
          <a:prstGeom prst="rect">
            <a:avLst/>
          </a:prstGeom>
          <a:solidFill>
            <a:srgbClr val="FFFFFF"/>
          </a:solidFill>
          <a:ln w="6350">
            <a:solidFill>
              <a:srgbClr val="D8E3F0"/>
            </a:solidFill>
            <a:prstDash val="solid"/>
          </a:ln>
        </p:spPr>
      </p:sp>
      <p:sp>
        <p:nvSpPr>
          <p:cNvPr id="46" name="Text 44"/>
          <p:cNvSpPr/>
          <p:nvPr/>
        </p:nvSpPr>
        <p:spPr>
          <a:xfrm>
            <a:off x="630936" y="4532158"/>
            <a:ext cx="202996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Large institutions</a:t>
            </a:r>
            <a:endParaRPr lang="en-US" sz="820" dirty="0"/>
          </a:p>
        </p:txBody>
      </p:sp>
      <p:sp>
        <p:nvSpPr>
          <p:cNvPr id="47" name="Shape 45"/>
          <p:cNvSpPr/>
          <p:nvPr/>
        </p:nvSpPr>
        <p:spPr>
          <a:xfrm>
            <a:off x="2697480" y="4500154"/>
            <a:ext cx="2743200" cy="483326"/>
          </a:xfrm>
          <a:prstGeom prst="rect">
            <a:avLst/>
          </a:prstGeom>
          <a:solidFill>
            <a:srgbClr val="FFFFFF"/>
          </a:solidFill>
          <a:ln w="6350">
            <a:solidFill>
              <a:srgbClr val="D8E3F0"/>
            </a:solidFill>
            <a:prstDash val="solid"/>
          </a:ln>
        </p:spPr>
      </p:sp>
      <p:sp>
        <p:nvSpPr>
          <p:cNvPr id="48" name="Text 46"/>
          <p:cNvSpPr/>
          <p:nvPr/>
        </p:nvSpPr>
        <p:spPr>
          <a:xfrm>
            <a:off x="2734056" y="4532158"/>
            <a:ext cx="267004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Enterprise or Edu</a:t>
            </a:r>
            <a:endParaRPr lang="en-US" sz="820" dirty="0"/>
          </a:p>
        </p:txBody>
      </p:sp>
      <p:sp>
        <p:nvSpPr>
          <p:cNvPr id="49" name="Shape 47"/>
          <p:cNvSpPr/>
          <p:nvPr/>
        </p:nvSpPr>
        <p:spPr>
          <a:xfrm>
            <a:off x="5440680" y="4500154"/>
            <a:ext cx="6126480" cy="483326"/>
          </a:xfrm>
          <a:prstGeom prst="rect">
            <a:avLst/>
          </a:prstGeom>
          <a:solidFill>
            <a:srgbClr val="FFFFFF"/>
          </a:solidFill>
          <a:ln w="6350">
            <a:solidFill>
              <a:srgbClr val="D8E3F0"/>
            </a:solidFill>
            <a:prstDash val="solid"/>
          </a:ln>
        </p:spPr>
      </p:sp>
      <p:sp>
        <p:nvSpPr>
          <p:cNvPr id="50" name="Text 48"/>
          <p:cNvSpPr/>
          <p:nvPr/>
        </p:nvSpPr>
        <p:spPr>
          <a:xfrm>
            <a:off x="5477256" y="4532158"/>
            <a:ext cx="6053328" cy="419318"/>
          </a:xfrm>
          <a:prstGeom prst="rect">
            <a:avLst/>
          </a:prstGeom>
          <a:noFill/>
          <a:ln/>
        </p:spPr>
        <p:txBody>
          <a:bodyPr wrap="square" lIns="127" tIns="127" rIns="127" bIns="127"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Scalable deployment, procurement, controls, and organization-level support</a:t>
            </a:r>
            <a:endParaRPr lang="en-US" sz="820" dirty="0"/>
          </a:p>
        </p:txBody>
      </p:sp>
      <p:sp>
        <p:nvSpPr>
          <p:cNvPr id="51" name="Shape 49"/>
          <p:cNvSpPr/>
          <p:nvPr/>
        </p:nvSpPr>
        <p:spPr>
          <a:xfrm>
            <a:off x="777240" y="5349240"/>
            <a:ext cx="3246120" cy="731520"/>
          </a:xfrm>
          <a:prstGeom prst="roundRect">
            <a:avLst>
              <a:gd name="adj" fmla="val 10000"/>
            </a:avLst>
          </a:prstGeom>
          <a:solidFill>
            <a:srgbClr val="EAF4FF"/>
          </a:solidFill>
          <a:ln w="9525">
            <a:solidFill>
              <a:srgbClr val="B9DFFF"/>
            </a:solidFill>
            <a:prstDash val="solid"/>
          </a:ln>
        </p:spPr>
      </p:sp>
      <p:sp>
        <p:nvSpPr>
          <p:cNvPr id="52" name="Text 50"/>
          <p:cNvSpPr/>
          <p:nvPr/>
        </p:nvSpPr>
        <p:spPr>
          <a:xfrm>
            <a:off x="1005840" y="5559552"/>
            <a:ext cx="2286000" cy="182880"/>
          </a:xfrm>
          <a:prstGeom prst="rect">
            <a:avLst/>
          </a:prstGeom>
          <a:noFill/>
          <a:ln/>
        </p:spPr>
        <p:txBody>
          <a:bodyPr wrap="square" lIns="0" tIns="0" rIns="0" bIns="0" rtlCol="0" anchor="ctr"/>
          <a:lstStyle/>
          <a:p>
            <a:pPr indent="0" marL="0">
              <a:buNone/>
            </a:pPr>
            <a:r>
              <a:rPr lang="en-US" sz="1200" b="1" dirty="0">
                <a:solidFill>
                  <a:srgbClr val="0F2D52"/>
                </a:solidFill>
                <a:latin typeface="Aptos" pitchFamily="34" charset="0"/>
                <a:ea typeface="Aptos" pitchFamily="34" charset="-122"/>
                <a:cs typeface="Aptos" pitchFamily="34" charset="-120"/>
              </a:rPr>
              <a:t>Student recommendation</a:t>
            </a:r>
            <a:endParaRPr lang="en-US" sz="1200" dirty="0"/>
          </a:p>
        </p:txBody>
      </p:sp>
      <p:sp>
        <p:nvSpPr>
          <p:cNvPr id="53" name="Text 51"/>
          <p:cNvSpPr/>
          <p:nvPr/>
        </p:nvSpPr>
        <p:spPr>
          <a:xfrm>
            <a:off x="1005840" y="5788152"/>
            <a:ext cx="2286000" cy="182880"/>
          </a:xfrm>
          <a:prstGeom prst="rect">
            <a:avLst/>
          </a:prstGeom>
          <a:noFill/>
          <a:ln/>
        </p:spPr>
        <p:txBody>
          <a:bodyPr wrap="square" lIns="0" tIns="0" rIns="0" bIns="0" rtlCol="0" anchor="ctr"/>
          <a:lstStyle/>
          <a:p>
            <a:pPr indent="0" marL="0">
              <a:buNone/>
            </a:pPr>
            <a:r>
              <a:rPr lang="en-US" sz="950" dirty="0">
                <a:solidFill>
                  <a:srgbClr val="6B7280"/>
                </a:solidFill>
                <a:latin typeface="Aptos" pitchFamily="34" charset="0"/>
                <a:ea typeface="Aptos" pitchFamily="34" charset="-122"/>
                <a:cs typeface="Aptos" pitchFamily="34" charset="-120"/>
              </a:rPr>
              <a:t>Free → Go/Plus</a:t>
            </a:r>
            <a:endParaRPr lang="en-US" sz="950" dirty="0"/>
          </a:p>
        </p:txBody>
      </p:sp>
      <p:sp>
        <p:nvSpPr>
          <p:cNvPr id="54" name="Shape 52"/>
          <p:cNvSpPr/>
          <p:nvPr/>
        </p:nvSpPr>
        <p:spPr>
          <a:xfrm>
            <a:off x="4480560" y="5349240"/>
            <a:ext cx="3246120" cy="731520"/>
          </a:xfrm>
          <a:prstGeom prst="roundRect">
            <a:avLst>
              <a:gd name="adj" fmla="val 10000"/>
            </a:avLst>
          </a:prstGeom>
          <a:solidFill>
            <a:srgbClr val="EAF4FF"/>
          </a:solidFill>
          <a:ln w="9525">
            <a:solidFill>
              <a:srgbClr val="B9DFFF"/>
            </a:solidFill>
            <a:prstDash val="solid"/>
          </a:ln>
        </p:spPr>
      </p:sp>
      <p:sp>
        <p:nvSpPr>
          <p:cNvPr id="55" name="Text 53"/>
          <p:cNvSpPr/>
          <p:nvPr/>
        </p:nvSpPr>
        <p:spPr>
          <a:xfrm>
            <a:off x="4709160" y="5559552"/>
            <a:ext cx="2468880" cy="182880"/>
          </a:xfrm>
          <a:prstGeom prst="rect">
            <a:avLst/>
          </a:prstGeom>
          <a:noFill/>
          <a:ln/>
        </p:spPr>
        <p:txBody>
          <a:bodyPr wrap="square" lIns="0" tIns="0" rIns="0" bIns="0" rtlCol="0" anchor="ctr"/>
          <a:lstStyle/>
          <a:p>
            <a:pPr indent="0" marL="0">
              <a:buNone/>
            </a:pPr>
            <a:r>
              <a:rPr lang="en-US" sz="1200" b="1" dirty="0">
                <a:solidFill>
                  <a:srgbClr val="0F2D52"/>
                </a:solidFill>
                <a:latin typeface="Aptos" pitchFamily="34" charset="0"/>
                <a:ea typeface="Aptos" pitchFamily="34" charset="-122"/>
                <a:cs typeface="Aptos" pitchFamily="34" charset="-120"/>
              </a:rPr>
              <a:t>Professional recommendation</a:t>
            </a:r>
            <a:endParaRPr lang="en-US" sz="1200" dirty="0"/>
          </a:p>
        </p:txBody>
      </p:sp>
      <p:sp>
        <p:nvSpPr>
          <p:cNvPr id="56" name="Text 54"/>
          <p:cNvSpPr/>
          <p:nvPr/>
        </p:nvSpPr>
        <p:spPr>
          <a:xfrm>
            <a:off x="4709160" y="5788152"/>
            <a:ext cx="2286000" cy="182880"/>
          </a:xfrm>
          <a:prstGeom prst="rect">
            <a:avLst/>
          </a:prstGeom>
          <a:noFill/>
          <a:ln/>
        </p:spPr>
        <p:txBody>
          <a:bodyPr wrap="square" lIns="0" tIns="0" rIns="0" bIns="0" rtlCol="0" anchor="ctr"/>
          <a:lstStyle/>
          <a:p>
            <a:pPr indent="0" marL="0">
              <a:buNone/>
            </a:pPr>
            <a:r>
              <a:rPr lang="en-US" sz="950" dirty="0">
                <a:solidFill>
                  <a:srgbClr val="6B7280"/>
                </a:solidFill>
                <a:latin typeface="Aptos" pitchFamily="34" charset="0"/>
                <a:ea typeface="Aptos" pitchFamily="34" charset="-122"/>
                <a:cs typeface="Aptos" pitchFamily="34" charset="-120"/>
              </a:rPr>
              <a:t>Plus → Business</a:t>
            </a:r>
            <a:endParaRPr lang="en-US" sz="950" dirty="0"/>
          </a:p>
        </p:txBody>
      </p:sp>
      <p:sp>
        <p:nvSpPr>
          <p:cNvPr id="57" name="Shape 55"/>
          <p:cNvSpPr/>
          <p:nvPr/>
        </p:nvSpPr>
        <p:spPr>
          <a:xfrm>
            <a:off x="8183880" y="5349240"/>
            <a:ext cx="3246120" cy="731520"/>
          </a:xfrm>
          <a:prstGeom prst="roundRect">
            <a:avLst>
              <a:gd name="adj" fmla="val 10000"/>
            </a:avLst>
          </a:prstGeom>
          <a:solidFill>
            <a:srgbClr val="0F2D52"/>
          </a:solidFill>
          <a:ln w="9525">
            <a:solidFill>
              <a:srgbClr val="0F2D52"/>
            </a:solidFill>
            <a:prstDash val="solid"/>
          </a:ln>
        </p:spPr>
      </p:sp>
      <p:sp>
        <p:nvSpPr>
          <p:cNvPr id="58" name="Text 56"/>
          <p:cNvSpPr/>
          <p:nvPr/>
        </p:nvSpPr>
        <p:spPr>
          <a:xfrm>
            <a:off x="8412480" y="5559552"/>
            <a:ext cx="2468880" cy="182880"/>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Overall best</a:t>
            </a:r>
            <a:endParaRPr lang="en-US" sz="1200" dirty="0"/>
          </a:p>
        </p:txBody>
      </p:sp>
      <p:sp>
        <p:nvSpPr>
          <p:cNvPr id="59" name="Text 57"/>
          <p:cNvSpPr/>
          <p:nvPr/>
        </p:nvSpPr>
        <p:spPr>
          <a:xfrm>
            <a:off x="8412480" y="5788152"/>
            <a:ext cx="2560320" cy="182880"/>
          </a:xfrm>
          <a:prstGeom prst="rect">
            <a:avLst/>
          </a:prstGeom>
          <a:noFill/>
          <a:ln/>
        </p:spPr>
        <p:txBody>
          <a:bodyPr wrap="square" lIns="0" tIns="0" rIns="0" bIns="0" rtlCol="0" anchor="ctr"/>
          <a:lstStyle/>
          <a:p>
            <a:pPr indent="0" marL="0">
              <a:buNone/>
            </a:pPr>
            <a:r>
              <a:rPr lang="en-US" sz="950" dirty="0">
                <a:solidFill>
                  <a:srgbClr val="E8F3FF"/>
                </a:solidFill>
                <a:latin typeface="Aptos" pitchFamily="34" charset="0"/>
                <a:ea typeface="Aptos" pitchFamily="34" charset="-122"/>
                <a:cs typeface="Aptos" pitchFamily="34" charset="-120"/>
              </a:rPr>
              <a:t>ChatGPT Plus / Business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A9C"/>
          </a:solidFill>
          <a:ln w="12700">
            <a:solidFill>
              <a:srgbClr val="005A9C"/>
            </a:solidFill>
            <a:prstDash val="solid"/>
          </a:ln>
        </p:spPr>
      </p:sp>
      <p:sp>
        <p:nvSpPr>
          <p:cNvPr id="3" name="Text 1"/>
          <p:cNvSpPr/>
          <p:nvPr/>
        </p:nvSpPr>
        <p:spPr>
          <a:xfrm>
            <a:off x="457200" y="320040"/>
            <a:ext cx="3200400" cy="182880"/>
          </a:xfrm>
          <a:prstGeom prst="rect">
            <a:avLst/>
          </a:prstGeom>
          <a:noFill/>
          <a:ln/>
        </p:spPr>
        <p:txBody>
          <a:bodyPr wrap="square" lIns="0" tIns="0" rIns="0" bIns="0" rtlCol="0" anchor="ctr"/>
          <a:lstStyle/>
          <a:p>
            <a:pPr indent="0" marL="0">
              <a:buNone/>
            </a:pPr>
            <a:r>
              <a:rPr lang="en-US" sz="850" b="1" dirty="0">
                <a:solidFill>
                  <a:srgbClr val="0078D4"/>
                </a:solidFill>
                <a:latin typeface="Aptos" pitchFamily="34" charset="0"/>
                <a:ea typeface="Aptos" pitchFamily="34" charset="-122"/>
                <a:cs typeface="Aptos" pitchFamily="34" charset="-120"/>
              </a:rPr>
              <a:t>EXECUTIVE CLOSE</a:t>
            </a:r>
            <a:endParaRPr lang="en-US" sz="850" dirty="0"/>
          </a:p>
        </p:txBody>
      </p:sp>
      <p:sp>
        <p:nvSpPr>
          <p:cNvPr id="4" name="Text 2"/>
          <p:cNvSpPr/>
          <p:nvPr/>
        </p:nvSpPr>
        <p:spPr>
          <a:xfrm>
            <a:off x="457200" y="566928"/>
            <a:ext cx="8412480" cy="320040"/>
          </a:xfrm>
          <a:prstGeom prst="rect">
            <a:avLst/>
          </a:prstGeom>
          <a:noFill/>
          <a:ln/>
        </p:spPr>
        <p:txBody>
          <a:bodyPr wrap="square" lIns="0" tIns="0" rIns="0" bIns="0" rtlCol="0" anchor="ctr"/>
          <a:lstStyle/>
          <a:p>
            <a:pPr indent="0" marL="0">
              <a:buNone/>
            </a:pPr>
            <a:r>
              <a:rPr lang="en-US" sz="2500" b="1" dirty="0">
                <a:solidFill>
                  <a:srgbClr val="0F2D52"/>
                </a:solidFill>
                <a:latin typeface="Aptos Display" pitchFamily="34" charset="0"/>
                <a:ea typeface="Aptos Display" pitchFamily="34" charset="-122"/>
                <a:cs typeface="Aptos Display" pitchFamily="34" charset="-120"/>
              </a:rPr>
              <a:t>Conclusion and Official References</a:t>
            </a:r>
            <a:endParaRPr lang="en-US" sz="2500" dirty="0"/>
          </a:p>
        </p:txBody>
      </p:sp>
      <p:sp>
        <p:nvSpPr>
          <p:cNvPr id="5" name="Text 3"/>
          <p:cNvSpPr/>
          <p:nvPr/>
        </p:nvSpPr>
        <p:spPr>
          <a:xfrm>
            <a:off x="411480" y="6537960"/>
            <a:ext cx="3657600" cy="137160"/>
          </a:xfrm>
          <a:prstGeom prst="rect">
            <a:avLst/>
          </a:prstGeom>
          <a:noFill/>
          <a:ln/>
        </p:spPr>
        <p:txBody>
          <a:bodyPr wrap="square" lIns="0" tIns="0" rIns="0" bIns="0" rtlCol="0" anchor="ctr"/>
          <a:lstStyle/>
          <a:p>
            <a:pPr indent="0" marL="0">
              <a:buNone/>
            </a:pPr>
            <a:r>
              <a:rPr lang="en-US" sz="750" dirty="0">
                <a:solidFill>
                  <a:srgbClr val="6B7280"/>
                </a:solidFill>
                <a:latin typeface="Aptos" pitchFamily="34" charset="0"/>
                <a:ea typeface="Aptos" pitchFamily="34" charset="-122"/>
                <a:cs typeface="Aptos" pitchFamily="34" charset="-120"/>
              </a:rPr>
              <a:t>ChatGPT for Data Analysts</a:t>
            </a:r>
            <a:endParaRPr lang="en-US" sz="750" dirty="0"/>
          </a:p>
        </p:txBody>
      </p:sp>
      <p:sp>
        <p:nvSpPr>
          <p:cNvPr id="6" name="Text 4"/>
          <p:cNvSpPr/>
          <p:nvPr/>
        </p:nvSpPr>
        <p:spPr>
          <a:xfrm>
            <a:off x="11338560" y="6510528"/>
            <a:ext cx="411480" cy="164592"/>
          </a:xfrm>
          <a:prstGeom prst="rect">
            <a:avLst/>
          </a:prstGeom>
          <a:noFill/>
          <a:ln/>
        </p:spPr>
        <p:txBody>
          <a:bodyPr wrap="square" lIns="0" tIns="0" rIns="0" bIns="0" rtlCol="0" anchor="ctr"/>
          <a:lstStyle/>
          <a:p>
            <a:pPr algn="r" indent="0" marL="0">
              <a:buNone/>
            </a:pPr>
            <a:r>
              <a:rPr lang="en-US" sz="800" dirty="0">
                <a:solidFill>
                  <a:srgbClr val="6B7280"/>
                </a:solidFill>
                <a:latin typeface="Aptos" pitchFamily="34" charset="0"/>
                <a:ea typeface="Aptos" pitchFamily="34" charset="-122"/>
                <a:cs typeface="Aptos" pitchFamily="34" charset="-120"/>
              </a:rPr>
              <a:t>10</a:t>
            </a:r>
            <a:endParaRPr lang="en-US" sz="800" dirty="0"/>
          </a:p>
        </p:txBody>
      </p:sp>
      <p:sp>
        <p:nvSpPr>
          <p:cNvPr id="7" name="Shape 5"/>
          <p:cNvSpPr/>
          <p:nvPr/>
        </p:nvSpPr>
        <p:spPr>
          <a:xfrm>
            <a:off x="411480" y="6446520"/>
            <a:ext cx="11384280" cy="0"/>
          </a:xfrm>
          <a:prstGeom prst="line">
            <a:avLst/>
          </a:prstGeom>
          <a:noFill/>
          <a:ln w="6350">
            <a:solidFill>
              <a:srgbClr val="D6E4F2"/>
            </a:solidFill>
            <a:prstDash val="solid"/>
          </a:ln>
        </p:spPr>
      </p:sp>
      <p:sp>
        <p:nvSpPr>
          <p:cNvPr id="8" name="Text 6"/>
          <p:cNvSpPr/>
          <p:nvPr/>
        </p:nvSpPr>
        <p:spPr>
          <a:xfrm>
            <a:off x="502920" y="1024128"/>
            <a:ext cx="10972800" cy="384048"/>
          </a:xfrm>
          <a:prstGeom prst="rect">
            <a:avLst/>
          </a:prstGeom>
          <a:noFill/>
          <a:ln/>
        </p:spPr>
        <p:txBody>
          <a:bodyPr wrap="square" lIns="0" tIns="0" rIns="0" bIns="0" rtlCol="0" anchor="ctr">
            <a:normAutofit/>
          </a:bodyPr>
          <a:lstStyle/>
          <a:p>
            <a:pPr indent="0" marL="0">
              <a:buNone/>
            </a:pPr>
            <a:r>
              <a:rPr lang="en-US" sz="1450" dirty="0">
                <a:solidFill>
                  <a:srgbClr val="111827"/>
                </a:solidFill>
                <a:latin typeface="Aptos" pitchFamily="34" charset="0"/>
                <a:ea typeface="Aptos" pitchFamily="34" charset="-122"/>
                <a:cs typeface="Aptos" pitchFamily="34" charset="-120"/>
              </a:rPr>
              <a:t>Conclusion: ChatGPT is a practical AI assistant for data analysts when used with clear prompts, sound validation, and responsible data practices.</a:t>
            </a:r>
            <a:endParaRPr lang="en-US" sz="1450" dirty="0"/>
          </a:p>
        </p:txBody>
      </p:sp>
      <p:sp>
        <p:nvSpPr>
          <p:cNvPr id="9" name="Shape 7"/>
          <p:cNvSpPr/>
          <p:nvPr/>
        </p:nvSpPr>
        <p:spPr>
          <a:xfrm>
            <a:off x="685800" y="1783080"/>
            <a:ext cx="2331720" cy="960120"/>
          </a:xfrm>
          <a:prstGeom prst="roundRect">
            <a:avLst>
              <a:gd name="adj" fmla="val 7619"/>
            </a:avLst>
          </a:prstGeom>
          <a:solidFill>
            <a:srgbClr val="F5FAFF"/>
          </a:solidFill>
          <a:ln w="9525">
            <a:solidFill>
              <a:srgbClr val="D6E4F2"/>
            </a:solidFill>
            <a:prstDash val="solid"/>
          </a:ln>
        </p:spPr>
      </p:sp>
      <p:sp>
        <p:nvSpPr>
          <p:cNvPr id="10" name="Text 8"/>
          <p:cNvSpPr/>
          <p:nvPr/>
        </p:nvSpPr>
        <p:spPr>
          <a:xfrm>
            <a:off x="896112" y="2029968"/>
            <a:ext cx="274320" cy="182880"/>
          </a:xfrm>
          <a:prstGeom prst="rect">
            <a:avLst/>
          </a:prstGeom>
          <a:noFill/>
          <a:ln/>
        </p:spPr>
        <p:txBody>
          <a:bodyPr wrap="square" lIns="0" tIns="0" rIns="0" bIns="0" rtlCol="0" anchor="ctr"/>
          <a:lstStyle/>
          <a:p>
            <a:pPr indent="0" marL="0">
              <a:buNone/>
            </a:pPr>
            <a:r>
              <a:rPr lang="en-US" sz="1600" b="1" dirty="0">
                <a:solidFill>
                  <a:srgbClr val="005A9C"/>
                </a:solidFill>
                <a:latin typeface="Aptos Display" pitchFamily="34" charset="0"/>
                <a:ea typeface="Aptos Display" pitchFamily="34" charset="-122"/>
                <a:cs typeface="Aptos Display" pitchFamily="34" charset="-120"/>
              </a:rPr>
              <a:t>1</a:t>
            </a:r>
            <a:endParaRPr lang="en-US" sz="1600" dirty="0"/>
          </a:p>
        </p:txBody>
      </p:sp>
      <p:sp>
        <p:nvSpPr>
          <p:cNvPr id="11" name="Text 9"/>
          <p:cNvSpPr/>
          <p:nvPr/>
        </p:nvSpPr>
        <p:spPr>
          <a:xfrm>
            <a:off x="1234440" y="1965960"/>
            <a:ext cx="1508760" cy="292608"/>
          </a:xfrm>
          <a:prstGeom prst="rect">
            <a:avLst/>
          </a:prstGeom>
          <a:noFill/>
          <a:ln/>
        </p:spPr>
        <p:txBody>
          <a:bodyPr wrap="square" lIns="0" tIns="0" rIns="0" bIns="0" rtlCol="0" anchor="ctr">
            <a:normAutofit/>
          </a:bodyPr>
          <a:lstStyle/>
          <a:p>
            <a:pPr indent="0" marL="0">
              <a:buNone/>
            </a:pPr>
            <a:r>
              <a:rPr lang="en-US" sz="1030" b="1" dirty="0">
                <a:solidFill>
                  <a:srgbClr val="0F2D52"/>
                </a:solidFill>
                <a:latin typeface="Aptos" pitchFamily="34" charset="0"/>
                <a:ea typeface="Aptos" pitchFamily="34" charset="-122"/>
                <a:cs typeface="Aptos" pitchFamily="34" charset="-120"/>
              </a:rPr>
              <a:t>Accelerates routine analytics work</a:t>
            </a:r>
            <a:endParaRPr lang="en-US" sz="1030" dirty="0"/>
          </a:p>
        </p:txBody>
      </p:sp>
      <p:sp>
        <p:nvSpPr>
          <p:cNvPr id="12" name="Shape 10"/>
          <p:cNvSpPr/>
          <p:nvPr/>
        </p:nvSpPr>
        <p:spPr>
          <a:xfrm>
            <a:off x="3474720" y="1783080"/>
            <a:ext cx="2331720" cy="960120"/>
          </a:xfrm>
          <a:prstGeom prst="roundRect">
            <a:avLst>
              <a:gd name="adj" fmla="val 7619"/>
            </a:avLst>
          </a:prstGeom>
          <a:solidFill>
            <a:srgbClr val="F5FAFF"/>
          </a:solidFill>
          <a:ln w="9525">
            <a:solidFill>
              <a:srgbClr val="D6E4F2"/>
            </a:solidFill>
            <a:prstDash val="solid"/>
          </a:ln>
        </p:spPr>
      </p:sp>
      <p:sp>
        <p:nvSpPr>
          <p:cNvPr id="13" name="Text 11"/>
          <p:cNvSpPr/>
          <p:nvPr/>
        </p:nvSpPr>
        <p:spPr>
          <a:xfrm>
            <a:off x="3685032" y="2029968"/>
            <a:ext cx="274320" cy="182880"/>
          </a:xfrm>
          <a:prstGeom prst="rect">
            <a:avLst/>
          </a:prstGeom>
          <a:noFill/>
          <a:ln/>
        </p:spPr>
        <p:txBody>
          <a:bodyPr wrap="square" lIns="0" tIns="0" rIns="0" bIns="0" rtlCol="0" anchor="ctr"/>
          <a:lstStyle/>
          <a:p>
            <a:pPr indent="0" marL="0">
              <a:buNone/>
            </a:pPr>
            <a:r>
              <a:rPr lang="en-US" sz="1600" b="1" dirty="0">
                <a:solidFill>
                  <a:srgbClr val="005A9C"/>
                </a:solidFill>
                <a:latin typeface="Aptos Display" pitchFamily="34" charset="0"/>
                <a:ea typeface="Aptos Display" pitchFamily="34" charset="-122"/>
                <a:cs typeface="Aptos Display" pitchFamily="34" charset="-120"/>
              </a:rPr>
              <a:t>2</a:t>
            </a:r>
            <a:endParaRPr lang="en-US" sz="1600" dirty="0"/>
          </a:p>
        </p:txBody>
      </p:sp>
      <p:sp>
        <p:nvSpPr>
          <p:cNvPr id="14" name="Text 12"/>
          <p:cNvSpPr/>
          <p:nvPr/>
        </p:nvSpPr>
        <p:spPr>
          <a:xfrm>
            <a:off x="4023360" y="1965960"/>
            <a:ext cx="1508760" cy="292608"/>
          </a:xfrm>
          <a:prstGeom prst="rect">
            <a:avLst/>
          </a:prstGeom>
          <a:noFill/>
          <a:ln/>
        </p:spPr>
        <p:txBody>
          <a:bodyPr wrap="square" lIns="0" tIns="0" rIns="0" bIns="0" rtlCol="0" anchor="ctr">
            <a:normAutofit/>
          </a:bodyPr>
          <a:lstStyle/>
          <a:p>
            <a:pPr indent="0" marL="0">
              <a:buNone/>
            </a:pPr>
            <a:r>
              <a:rPr lang="en-US" sz="1030" b="1" dirty="0">
                <a:solidFill>
                  <a:srgbClr val="0F2D52"/>
                </a:solidFill>
                <a:latin typeface="Aptos" pitchFamily="34" charset="0"/>
                <a:ea typeface="Aptos" pitchFamily="34" charset="-122"/>
                <a:cs typeface="Aptos" pitchFamily="34" charset="-120"/>
              </a:rPr>
              <a:t>Supports code, charts, summaries, and reports</a:t>
            </a:r>
            <a:endParaRPr lang="en-US" sz="1030" dirty="0"/>
          </a:p>
        </p:txBody>
      </p:sp>
      <p:sp>
        <p:nvSpPr>
          <p:cNvPr id="15" name="Shape 13"/>
          <p:cNvSpPr/>
          <p:nvPr/>
        </p:nvSpPr>
        <p:spPr>
          <a:xfrm>
            <a:off x="6263640" y="1783080"/>
            <a:ext cx="2331720" cy="960120"/>
          </a:xfrm>
          <a:prstGeom prst="roundRect">
            <a:avLst>
              <a:gd name="adj" fmla="val 7619"/>
            </a:avLst>
          </a:prstGeom>
          <a:solidFill>
            <a:srgbClr val="F5FAFF"/>
          </a:solidFill>
          <a:ln w="9525">
            <a:solidFill>
              <a:srgbClr val="D6E4F2"/>
            </a:solidFill>
            <a:prstDash val="solid"/>
          </a:ln>
        </p:spPr>
      </p:sp>
      <p:sp>
        <p:nvSpPr>
          <p:cNvPr id="16" name="Text 14"/>
          <p:cNvSpPr/>
          <p:nvPr/>
        </p:nvSpPr>
        <p:spPr>
          <a:xfrm>
            <a:off x="6473952" y="2029968"/>
            <a:ext cx="274320" cy="182880"/>
          </a:xfrm>
          <a:prstGeom prst="rect">
            <a:avLst/>
          </a:prstGeom>
          <a:noFill/>
          <a:ln/>
        </p:spPr>
        <p:txBody>
          <a:bodyPr wrap="square" lIns="0" tIns="0" rIns="0" bIns="0" rtlCol="0" anchor="ctr"/>
          <a:lstStyle/>
          <a:p>
            <a:pPr indent="0" marL="0">
              <a:buNone/>
            </a:pPr>
            <a:r>
              <a:rPr lang="en-US" sz="1600" b="1" dirty="0">
                <a:solidFill>
                  <a:srgbClr val="005A9C"/>
                </a:solidFill>
                <a:latin typeface="Aptos Display" pitchFamily="34" charset="0"/>
                <a:ea typeface="Aptos Display" pitchFamily="34" charset="-122"/>
                <a:cs typeface="Aptos Display" pitchFamily="34" charset="-120"/>
              </a:rPr>
              <a:t>3</a:t>
            </a:r>
            <a:endParaRPr lang="en-US" sz="1600" dirty="0"/>
          </a:p>
        </p:txBody>
      </p:sp>
      <p:sp>
        <p:nvSpPr>
          <p:cNvPr id="17" name="Text 15"/>
          <p:cNvSpPr/>
          <p:nvPr/>
        </p:nvSpPr>
        <p:spPr>
          <a:xfrm>
            <a:off x="6812280" y="1965960"/>
            <a:ext cx="1508760" cy="292608"/>
          </a:xfrm>
          <a:prstGeom prst="rect">
            <a:avLst/>
          </a:prstGeom>
          <a:noFill/>
          <a:ln/>
        </p:spPr>
        <p:txBody>
          <a:bodyPr wrap="square" lIns="0" tIns="0" rIns="0" bIns="0" rtlCol="0" anchor="ctr">
            <a:normAutofit/>
          </a:bodyPr>
          <a:lstStyle/>
          <a:p>
            <a:pPr indent="0" marL="0">
              <a:buNone/>
            </a:pPr>
            <a:r>
              <a:rPr lang="en-US" sz="1030" b="1" dirty="0">
                <a:solidFill>
                  <a:srgbClr val="0F2D52"/>
                </a:solidFill>
                <a:latin typeface="Aptos" pitchFamily="34" charset="0"/>
                <a:ea typeface="Aptos" pitchFamily="34" charset="-122"/>
                <a:cs typeface="Aptos" pitchFamily="34" charset="-120"/>
              </a:rPr>
              <a:t>Strengthens communication with stakeholders</a:t>
            </a:r>
            <a:endParaRPr lang="en-US" sz="1030" dirty="0"/>
          </a:p>
        </p:txBody>
      </p:sp>
      <p:sp>
        <p:nvSpPr>
          <p:cNvPr id="18" name="Shape 16"/>
          <p:cNvSpPr/>
          <p:nvPr/>
        </p:nvSpPr>
        <p:spPr>
          <a:xfrm>
            <a:off x="9052560" y="1783080"/>
            <a:ext cx="2331720" cy="960120"/>
          </a:xfrm>
          <a:prstGeom prst="roundRect">
            <a:avLst>
              <a:gd name="adj" fmla="val 7619"/>
            </a:avLst>
          </a:prstGeom>
          <a:solidFill>
            <a:srgbClr val="FFF7ED"/>
          </a:solidFill>
          <a:ln w="9525">
            <a:solidFill>
              <a:srgbClr val="FBD38D"/>
            </a:solidFill>
            <a:prstDash val="solid"/>
          </a:ln>
        </p:spPr>
      </p:sp>
      <p:sp>
        <p:nvSpPr>
          <p:cNvPr id="19" name="Text 17"/>
          <p:cNvSpPr/>
          <p:nvPr/>
        </p:nvSpPr>
        <p:spPr>
          <a:xfrm>
            <a:off x="9262872" y="2029968"/>
            <a:ext cx="274320" cy="182880"/>
          </a:xfrm>
          <a:prstGeom prst="rect">
            <a:avLst/>
          </a:prstGeom>
          <a:noFill/>
          <a:ln/>
        </p:spPr>
        <p:txBody>
          <a:bodyPr wrap="square" lIns="0" tIns="0" rIns="0" bIns="0" rtlCol="0" anchor="ctr"/>
          <a:lstStyle/>
          <a:p>
            <a:pPr indent="0" marL="0">
              <a:buNone/>
            </a:pPr>
            <a:r>
              <a:rPr lang="en-US" sz="1600" b="1" dirty="0">
                <a:solidFill>
                  <a:srgbClr val="F59E0B"/>
                </a:solidFill>
                <a:latin typeface="Aptos Display" pitchFamily="34" charset="0"/>
                <a:ea typeface="Aptos Display" pitchFamily="34" charset="-122"/>
                <a:cs typeface="Aptos Display" pitchFamily="34" charset="-120"/>
              </a:rPr>
              <a:t>4</a:t>
            </a:r>
            <a:endParaRPr lang="en-US" sz="1600" dirty="0"/>
          </a:p>
        </p:txBody>
      </p:sp>
      <p:sp>
        <p:nvSpPr>
          <p:cNvPr id="20" name="Text 18"/>
          <p:cNvSpPr/>
          <p:nvPr/>
        </p:nvSpPr>
        <p:spPr>
          <a:xfrm>
            <a:off x="9601200" y="1965960"/>
            <a:ext cx="1508760" cy="292608"/>
          </a:xfrm>
          <a:prstGeom prst="rect">
            <a:avLst/>
          </a:prstGeom>
          <a:noFill/>
          <a:ln/>
        </p:spPr>
        <p:txBody>
          <a:bodyPr wrap="square" lIns="0" tIns="0" rIns="0" bIns="0" rtlCol="0" anchor="ctr">
            <a:normAutofit/>
          </a:bodyPr>
          <a:lstStyle/>
          <a:p>
            <a:pPr indent="0" marL="0">
              <a:buNone/>
            </a:pPr>
            <a:r>
              <a:rPr lang="en-US" sz="1030" b="1" dirty="0">
                <a:solidFill>
                  <a:srgbClr val="0F2D52"/>
                </a:solidFill>
                <a:latin typeface="Aptos" pitchFamily="34" charset="0"/>
                <a:ea typeface="Aptos" pitchFamily="34" charset="-122"/>
                <a:cs typeface="Aptos" pitchFamily="34" charset="-120"/>
              </a:rPr>
              <a:t>Requires validation, governance, and human judgment</a:t>
            </a:r>
            <a:endParaRPr lang="en-US" sz="1030" dirty="0"/>
          </a:p>
        </p:txBody>
      </p:sp>
      <p:sp>
        <p:nvSpPr>
          <p:cNvPr id="21" name="Shape 19"/>
          <p:cNvSpPr/>
          <p:nvPr/>
        </p:nvSpPr>
        <p:spPr>
          <a:xfrm>
            <a:off x="777240" y="3246120"/>
            <a:ext cx="5029200" cy="2011680"/>
          </a:xfrm>
          <a:prstGeom prst="roundRect">
            <a:avLst>
              <a:gd name="adj" fmla="val 3636"/>
            </a:avLst>
          </a:prstGeom>
          <a:solidFill>
            <a:srgbClr val="EAF4FF"/>
          </a:solidFill>
          <a:ln w="9525">
            <a:solidFill>
              <a:srgbClr val="B9DFFF"/>
            </a:solidFill>
            <a:prstDash val="solid"/>
          </a:ln>
        </p:spPr>
      </p:sp>
      <p:sp>
        <p:nvSpPr>
          <p:cNvPr id="22" name="Text 20"/>
          <p:cNvSpPr/>
          <p:nvPr/>
        </p:nvSpPr>
        <p:spPr>
          <a:xfrm>
            <a:off x="1051560" y="3520440"/>
            <a:ext cx="228600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Final recommendation</a:t>
            </a:r>
            <a:endParaRPr lang="en-US" sz="1100" dirty="0"/>
          </a:p>
        </p:txBody>
      </p:sp>
      <p:sp>
        <p:nvSpPr>
          <p:cNvPr id="23" name="Text 21"/>
          <p:cNvSpPr/>
          <p:nvPr/>
        </p:nvSpPr>
        <p:spPr>
          <a:xfrm>
            <a:off x="1051560" y="3931920"/>
            <a:ext cx="4160520" cy="777240"/>
          </a:xfrm>
          <a:prstGeom prst="rect">
            <a:avLst/>
          </a:prstGeom>
          <a:noFill/>
          <a:ln/>
        </p:spPr>
        <p:txBody>
          <a:bodyPr wrap="square" lIns="381" tIns="381" rIns="381" bIns="381" rtlCol="0" anchor="ctr">
            <a:normAutofit/>
          </a:bodyPr>
          <a:lstStyle/>
          <a:p>
            <a:pPr indent="0" marL="0">
              <a:buNone/>
            </a:pPr>
            <a:r>
              <a:rPr lang="en-US" sz="1300" dirty="0">
                <a:solidFill>
                  <a:srgbClr val="111827"/>
                </a:solidFill>
                <a:latin typeface="Aptos" pitchFamily="34" charset="0"/>
                <a:ea typeface="Aptos" pitchFamily="34" charset="-122"/>
                <a:cs typeface="Aptos" pitchFamily="34" charset="-120"/>
              </a:rPr>
              <a:t>Use ChatGPT as a productivity accelerator across the analytics lifecycle: data exploration, code generation, visualization, and executive reporting. Pair it with analyst review before decisions.</a:t>
            </a:r>
            <a:endParaRPr lang="en-US" sz="1300" dirty="0"/>
          </a:p>
        </p:txBody>
      </p:sp>
      <p:sp>
        <p:nvSpPr>
          <p:cNvPr id="24" name="Shape 22"/>
          <p:cNvSpPr/>
          <p:nvPr/>
        </p:nvSpPr>
        <p:spPr>
          <a:xfrm>
            <a:off x="6263640" y="3246120"/>
            <a:ext cx="5029200" cy="2011680"/>
          </a:xfrm>
          <a:prstGeom prst="roundRect">
            <a:avLst>
              <a:gd name="adj" fmla="val 3636"/>
            </a:avLst>
          </a:prstGeom>
          <a:solidFill>
            <a:srgbClr val="FFFFFF"/>
          </a:solidFill>
          <a:ln w="9525">
            <a:solidFill>
              <a:srgbClr val="D6E4F2"/>
            </a:solidFill>
            <a:prstDash val="solid"/>
          </a:ln>
        </p:spPr>
      </p:sp>
      <p:sp>
        <p:nvSpPr>
          <p:cNvPr id="25" name="Text 23"/>
          <p:cNvSpPr/>
          <p:nvPr/>
        </p:nvSpPr>
        <p:spPr>
          <a:xfrm>
            <a:off x="6537960" y="3520440"/>
            <a:ext cx="2286000" cy="201168"/>
          </a:xfrm>
          <a:prstGeom prst="rect">
            <a:avLst/>
          </a:prstGeom>
          <a:noFill/>
          <a:ln/>
        </p:spPr>
        <p:txBody>
          <a:bodyPr wrap="square" lIns="0" tIns="0" rIns="0" bIns="0" rtlCol="0" anchor="ctr"/>
          <a:lstStyle/>
          <a:p>
            <a:pPr indent="0" marL="0">
              <a:buNone/>
            </a:pPr>
            <a:r>
              <a:rPr lang="en-US" sz="1100" b="1" dirty="0">
                <a:solidFill>
                  <a:srgbClr val="0F2D52"/>
                </a:solidFill>
                <a:latin typeface="Aptos" pitchFamily="34" charset="0"/>
                <a:ea typeface="Aptos" pitchFamily="34" charset="-122"/>
                <a:cs typeface="Aptos" pitchFamily="34" charset="-120"/>
              </a:rPr>
              <a:t>Official references</a:t>
            </a:r>
            <a:endParaRPr lang="en-US" sz="1100" dirty="0"/>
          </a:p>
        </p:txBody>
      </p:sp>
      <p:sp>
        <p:nvSpPr>
          <p:cNvPr id="26" name="Text 24"/>
          <p:cNvSpPr/>
          <p:nvPr/>
        </p:nvSpPr>
        <p:spPr>
          <a:xfrm>
            <a:off x="6537960" y="3840480"/>
            <a:ext cx="4160520" cy="987552"/>
          </a:xfrm>
          <a:prstGeom prst="rect">
            <a:avLst/>
          </a:prstGeom>
          <a:noFill/>
          <a:ln/>
        </p:spPr>
        <p:txBody>
          <a:bodyPr wrap="square" lIns="381" tIns="381" rIns="381" bIns="381" rtlCol="0" anchor="ctr">
            <a:normAutofit/>
          </a:bodyPr>
          <a:lstStyle/>
          <a:p>
            <a:pPr indent="0" marL="0">
              <a:buNone/>
            </a:pPr>
            <a:r>
              <a:rPr lang="en-US" sz="780" dirty="0">
                <a:solidFill>
                  <a:srgbClr val="111827"/>
                </a:solidFill>
                <a:latin typeface="Aptos" pitchFamily="34" charset="0"/>
                <a:ea typeface="Aptos" pitchFamily="34" charset="-122"/>
                <a:cs typeface="Aptos" pitchFamily="34" charset="-120"/>
              </a:rPr>
              <a:t>• openai.com/chatgpt/pricing</a:t>
            </a:r>
            <a:endParaRPr lang="en-US" sz="780" dirty="0"/>
          </a:p>
          <a:p>
            <a:pPr indent="0" marL="0">
              <a:buNone/>
            </a:pPr>
            <a:r>
              <a:rPr lang="en-US" sz="780" dirty="0">
                <a:solidFill>
                  <a:srgbClr val="111827"/>
                </a:solidFill>
                <a:latin typeface="Aptos" pitchFamily="34" charset="0"/>
                <a:ea typeface="Aptos" pitchFamily="34" charset="-122"/>
                <a:cs typeface="Aptos" pitchFamily="34" charset="-120"/>
              </a:rPr>
              <a:t>• help.openai.com: Data analysis with ChatGPT</a:t>
            </a:r>
            <a:endParaRPr lang="en-US" sz="780" dirty="0"/>
          </a:p>
          <a:p>
            <a:pPr indent="0" marL="0">
              <a:buNone/>
            </a:pPr>
            <a:r>
              <a:rPr lang="en-US" sz="780" dirty="0">
                <a:solidFill>
                  <a:srgbClr val="111827"/>
                </a:solidFill>
                <a:latin typeface="Aptos" pitchFamily="34" charset="0"/>
                <a:ea typeface="Aptos" pitchFamily="34" charset="-122"/>
                <a:cs typeface="Aptos" pitchFamily="34" charset="-120"/>
              </a:rPr>
              <a:t>• openai.com/academy/data-analysis</a:t>
            </a:r>
            <a:endParaRPr lang="en-US" sz="780" dirty="0"/>
          </a:p>
          <a:p>
            <a:pPr indent="0" marL="0">
              <a:buNone/>
            </a:pPr>
            <a:r>
              <a:rPr lang="en-US" sz="780" dirty="0">
                <a:solidFill>
                  <a:srgbClr val="111827"/>
                </a:solidFill>
                <a:latin typeface="Aptos" pitchFamily="34" charset="0"/>
                <a:ea typeface="Aptos" pitchFamily="34" charset="-122"/>
                <a:cs typeface="Aptos" pitchFamily="34" charset="-120"/>
              </a:rPr>
              <a:t>• openai.com/index/improvements-to-data-analysis-in-chatgpt</a:t>
            </a:r>
            <a:endParaRPr lang="en-US" sz="780" dirty="0"/>
          </a:p>
          <a:p>
            <a:pPr indent="0" marL="0">
              <a:buNone/>
            </a:pPr>
            <a:r>
              <a:rPr lang="en-US" sz="780" dirty="0">
                <a:solidFill>
                  <a:srgbClr val="111827"/>
                </a:solidFill>
                <a:latin typeface="Aptos" pitchFamily="34" charset="0"/>
                <a:ea typeface="Aptos" pitchFamily="34" charset="-122"/>
                <a:cs typeface="Aptos" pitchFamily="34" charset="-120"/>
              </a:rPr>
              <a:t>• chatgpt.com/overview</a:t>
            </a:r>
            <a:endParaRPr lang="en-US" sz="780" dirty="0"/>
          </a:p>
          <a:p>
            <a:pPr indent="0" marL="0">
              <a:buNone/>
            </a:pPr>
            <a:r>
              <a:rPr lang="en-US" sz="780" dirty="0">
                <a:solidFill>
                  <a:srgbClr val="111827"/>
                </a:solidFill>
                <a:latin typeface="Aptos" pitchFamily="34" charset="0"/>
                <a:ea typeface="Aptos" pitchFamily="34" charset="-122"/>
                <a:cs typeface="Aptos" pitchFamily="34" charset="-120"/>
              </a:rPr>
              <a:t>• help.openai.com: ChatGPT Windows app</a:t>
            </a:r>
            <a:endParaRPr lang="en-US" sz="780" dirty="0"/>
          </a:p>
        </p:txBody>
      </p:sp>
      <p:sp>
        <p:nvSpPr>
          <p:cNvPr id="27" name="Text 25"/>
          <p:cNvSpPr/>
          <p:nvPr/>
        </p:nvSpPr>
        <p:spPr>
          <a:xfrm>
            <a:off x="3474720" y="5715000"/>
            <a:ext cx="5212080" cy="365760"/>
          </a:xfrm>
          <a:prstGeom prst="rect">
            <a:avLst/>
          </a:prstGeom>
          <a:noFill/>
          <a:ln/>
        </p:spPr>
        <p:txBody>
          <a:bodyPr wrap="square" lIns="0" tIns="0" rIns="0" bIns="0" rtlCol="0" anchor="ctr"/>
          <a:lstStyle/>
          <a:p>
            <a:pPr algn="ctr" indent="0" marL="0">
              <a:buNone/>
            </a:pPr>
            <a:r>
              <a:rPr lang="en-US" sz="2800" b="1" dirty="0">
                <a:solidFill>
                  <a:srgbClr val="0F2D52"/>
                </a:solidFill>
                <a:latin typeface="Aptos Display" pitchFamily="34" charset="0"/>
                <a:ea typeface="Aptos Display" pitchFamily="34" charset="-122"/>
                <a:cs typeface="Aptos Display" pitchFamily="34" charset="-120"/>
              </a:rPr>
              <a:t>Thank you — questions?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University Presentation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ChatGPT for Data Analysts</dc:title>
  <dc:subject>ChatGPT for Data Analysts</dc:subject>
  <dc:creator>OpenAI</dc:creator>
  <cp:lastModifiedBy>OpenAI</cp:lastModifiedBy>
  <cp:revision>1</cp:revision>
  <dcterms:created xsi:type="dcterms:W3CDTF">2026-07-23T18:49:19Z</dcterms:created>
  <dcterms:modified xsi:type="dcterms:W3CDTF">2026-07-23T18:49:19Z</dcterms:modified>
</cp:coreProperties>
</file>